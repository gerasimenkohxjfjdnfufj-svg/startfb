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72" r:id="rId1"/>
  </p:sldMasterIdLst>
  <p:sldIdLst>
    <p:sldId id="256" r:id="rId2"/>
    <p:sldId id="257" r:id="rId3"/>
    <p:sldId id="258" r:id="rId4"/>
    <p:sldId id="259" r:id="rId5"/>
    <p:sldId id="260" r:id="rId6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571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0" d="100"/>
          <a:sy n="60" d="100"/>
        </p:scale>
        <p:origin x="78" y="110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4212" y="685799"/>
            <a:ext cx="8001000" cy="2971801"/>
          </a:xfrm>
        </p:spPr>
        <p:txBody>
          <a:bodyPr anchor="b">
            <a:normAutofit/>
          </a:bodyPr>
          <a:lstStyle>
            <a:lvl1pPr algn="l">
              <a:defRPr sz="4800">
                <a:effectLst/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4212" y="3843867"/>
            <a:ext cx="6400800" cy="1947333"/>
          </a:xfrm>
        </p:spPr>
        <p:txBody>
          <a:bodyPr anchor="t">
            <a:normAutofit/>
          </a:bodyPr>
          <a:lstStyle>
            <a:lvl1pPr marL="0" indent="0" algn="l">
              <a:buNone/>
              <a:defRPr sz="21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  <p:cxnSp>
        <p:nvCxnSpPr>
          <p:cNvPr id="16" name="Straight Connector 15"/>
          <p:cNvCxnSpPr/>
          <p:nvPr/>
        </p:nvCxnSpPr>
        <p:spPr>
          <a:xfrm flipH="1">
            <a:off x="8228012" y="8467"/>
            <a:ext cx="3810000" cy="3810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Straight Connector 16"/>
          <p:cNvCxnSpPr/>
          <p:nvPr/>
        </p:nvCxnSpPr>
        <p:spPr>
          <a:xfrm flipH="1">
            <a:off x="6108170" y="91545"/>
            <a:ext cx="6080655" cy="6080655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Straight Connector 18"/>
          <p:cNvCxnSpPr/>
          <p:nvPr/>
        </p:nvCxnSpPr>
        <p:spPr>
          <a:xfrm flipH="1">
            <a:off x="7235825" y="228600"/>
            <a:ext cx="4953000" cy="4953000"/>
          </a:xfrm>
          <a:prstGeom prst="line">
            <a:avLst/>
          </a:prstGeom>
          <a:ln w="1270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Connector 20"/>
          <p:cNvCxnSpPr/>
          <p:nvPr/>
        </p:nvCxnSpPr>
        <p:spPr>
          <a:xfrm flipH="1">
            <a:off x="7335837" y="32278"/>
            <a:ext cx="4852989" cy="485298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3" name="Straight Connector 22"/>
          <p:cNvCxnSpPr/>
          <p:nvPr/>
        </p:nvCxnSpPr>
        <p:spPr>
          <a:xfrm flipH="1">
            <a:off x="7845426" y="609601"/>
            <a:ext cx="4343399" cy="4343399"/>
          </a:xfrm>
          <a:prstGeom prst="line">
            <a:avLst/>
          </a:prstGeom>
          <a:ln w="31750">
            <a:solidFill>
              <a:schemeClr val="tx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2530621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280623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1" y="2006600"/>
            <a:ext cx="8534401" cy="2281600"/>
          </a:xfrm>
        </p:spPr>
        <p:txBody>
          <a:bodyPr anchor="b">
            <a:normAutofit/>
          </a:bodyPr>
          <a:lstStyle>
            <a:lvl1pPr algn="l">
              <a:defRPr sz="36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495800"/>
            <a:ext cx="8534400" cy="14986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86450305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4211" y="685800"/>
            <a:ext cx="4937655" cy="3615267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808133" y="685801"/>
            <a:ext cx="4934479" cy="3615266"/>
          </a:xfrm>
        </p:spPr>
        <p:txBody>
          <a:bodyPr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2650486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72080" y="685800"/>
            <a:ext cx="464978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4211" y="1270529"/>
            <a:ext cx="4937655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079066" y="685800"/>
            <a:ext cx="4665134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806545" y="1262062"/>
            <a:ext cx="4929188" cy="3030538"/>
          </a:xfrm>
        </p:spPr>
        <p:txBody>
          <a:bodyPr anchor="t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04899165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791368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595882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085012" y="685800"/>
            <a:ext cx="3657600" cy="137160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84212" y="685800"/>
            <a:ext cx="5943601" cy="5308600"/>
          </a:xfrm>
        </p:spPr>
        <p:txBody>
          <a:bodyPr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085012" y="2209799"/>
            <a:ext cx="3657600" cy="2091267"/>
          </a:xfrm>
        </p:spPr>
        <p:txBody>
          <a:bodyPr anchor="t">
            <a:normAutofit/>
          </a:bodyPr>
          <a:lstStyle>
            <a:lvl1pPr marL="0" indent="0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55411521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722812" y="1447800"/>
            <a:ext cx="6019800" cy="1143000"/>
          </a:xfrm>
        </p:spPr>
        <p:txBody>
          <a:bodyPr anchor="b">
            <a:normAutofit/>
          </a:bodyPr>
          <a:lstStyle>
            <a:lvl1pPr algn="l">
              <a:defRPr sz="2800" b="0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989012" y="914400"/>
            <a:ext cx="3280974" cy="45720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722812" y="2777066"/>
            <a:ext cx="6021388" cy="2048933"/>
          </a:xfrm>
        </p:spPr>
        <p:txBody>
          <a:bodyPr anchor="t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40826858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7" name="Picture Placeholder 2"/>
          <p:cNvSpPr>
            <a:spLocks noGrp="1" noChangeAspect="1"/>
          </p:cNvSpPr>
          <p:nvPr>
            <p:ph type="pic" idx="13"/>
          </p:nvPr>
        </p:nvSpPr>
        <p:spPr>
          <a:xfrm>
            <a:off x="685800" y="533400"/>
            <a:ext cx="10818812" cy="3124200"/>
          </a:xfrm>
          <a:prstGeom prst="snip2DiagRect">
            <a:avLst>
              <a:gd name="adj1" fmla="val 10815"/>
              <a:gd name="adj2" fmla="val 0"/>
            </a:avLst>
          </a:prstGeom>
          <a:ln w="15875">
            <a:solidFill>
              <a:schemeClr val="tx1">
                <a:alpha val="40000"/>
              </a:schemeClr>
            </a:soli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/>
              <a:t>Вставка рисунка</a:t>
            </a:r>
            <a:endParaRPr lang="en-US" dirty="0"/>
          </a:p>
        </p:txBody>
      </p:sp>
      <p:sp>
        <p:nvSpPr>
          <p:cNvPr id="16" name="Text Placeholder 9"/>
          <p:cNvSpPr>
            <a:spLocks noGrp="1"/>
          </p:cNvSpPr>
          <p:nvPr>
            <p:ph type="body" sz="quarter" idx="14"/>
          </p:nvPr>
        </p:nvSpPr>
        <p:spPr>
          <a:xfrm>
            <a:off x="914402" y="3843867"/>
            <a:ext cx="8304210" cy="457200"/>
          </a:xfrm>
        </p:spPr>
        <p:txBody>
          <a:bodyPr anchor="t">
            <a:normAutofit/>
          </a:bodyPr>
          <a:lstStyle>
            <a:lvl1pPr marL="0" indent="0">
              <a:buFontTx/>
              <a:buNone/>
              <a:defRPr sz="16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8923772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anchor="ctr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4114800"/>
            <a:ext cx="8535988" cy="1879600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21836631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1" y="685800"/>
            <a:ext cx="9144001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46212" y="3429000"/>
            <a:ext cx="8534400" cy="381000"/>
          </a:xfrm>
        </p:spPr>
        <p:txBody>
          <a:bodyPr anchor="ctr"/>
          <a:lstStyle>
            <a:lvl1pPr marL="0" indent="0">
              <a:buFontTx/>
              <a:buNone/>
              <a:defRPr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3" y="4301067"/>
            <a:ext cx="8534400" cy="1684865"/>
          </a:xfrm>
        </p:spPr>
        <p:txBody>
          <a:bodyPr anchor="ctr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  <p:sp>
        <p:nvSpPr>
          <p:cNvPr id="14" name="TextBox 13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4677769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2" y="3429000"/>
            <a:ext cx="8534400" cy="1697400"/>
          </a:xfrm>
        </p:spPr>
        <p:txBody>
          <a:bodyPr anchor="b">
            <a:normAutofit/>
          </a:bodyPr>
          <a:lstStyle>
            <a:lvl1pPr algn="l">
              <a:defRPr sz="3200" b="0" cap="all"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5132981"/>
            <a:ext cx="8535990" cy="860400"/>
          </a:xfrm>
        </p:spPr>
        <p:txBody>
          <a:bodyPr anchor="t">
            <a:normAutofit/>
          </a:bodyPr>
          <a:lstStyle>
            <a:lvl1pPr marL="0" indent="0" algn="l">
              <a:buNone/>
              <a:defRPr sz="20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0516215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карточки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1413" y="685800"/>
            <a:ext cx="9144000" cy="2743200"/>
          </a:xfrm>
        </p:spPr>
        <p:txBody>
          <a:bodyPr anchor="ctr">
            <a:normAutofit/>
          </a:bodyPr>
          <a:lstStyle>
            <a:lvl1pPr algn="l">
              <a:defRPr sz="3200" b="0" cap="all">
                <a:solidFill>
                  <a:schemeClr val="tx1"/>
                </a:solidFill>
              </a:defRPr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1" cy="1049866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978400"/>
            <a:ext cx="8534401" cy="10160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  <p:sp>
        <p:nvSpPr>
          <p:cNvPr id="11" name="TextBox 10"/>
          <p:cNvSpPr txBox="1"/>
          <p:nvPr/>
        </p:nvSpPr>
        <p:spPr>
          <a:xfrm>
            <a:off x="531812" y="812222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285412" y="2768601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649418681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Истина или лож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4213" y="685800"/>
            <a:ext cx="10058400" cy="2743200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84212" y="3928534"/>
            <a:ext cx="8534400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400" b="0" cap="all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ru-RU"/>
              <a:t>Образец текста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1" y="4766732"/>
            <a:ext cx="8534401" cy="1227667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bg2">
                    <a:lumMod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09554590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l">
              <a:defRPr/>
            </a:lvl1pPr>
          </a:lstStyle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07354145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685212" y="685800"/>
            <a:ext cx="2057400" cy="4572000"/>
          </a:xfrm>
        </p:spPr>
        <p:txBody>
          <a:bodyPr vert="eaVert"/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5800" y="685800"/>
            <a:ext cx="7823200" cy="5308600"/>
          </a:xfrm>
        </p:spPr>
        <p:txBody>
          <a:bodyPr vert="eaVert" anchor="t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70039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2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9206969" y="2963333"/>
            <a:ext cx="2981858" cy="3208867"/>
            <a:chOff x="9206969" y="2963333"/>
            <a:chExt cx="2981858" cy="3208867"/>
          </a:xfrm>
        </p:grpSpPr>
        <p:cxnSp>
          <p:nvCxnSpPr>
            <p:cNvPr id="8" name="Straight Connector 7"/>
            <p:cNvCxnSpPr/>
            <p:nvPr/>
          </p:nvCxnSpPr>
          <p:spPr>
            <a:xfrm flipH="1">
              <a:off x="11276012" y="2963333"/>
              <a:ext cx="912814" cy="912812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 flipH="1">
              <a:off x="9206969" y="3190344"/>
              <a:ext cx="2981857" cy="2981856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0" name="Straight Connector 9"/>
            <p:cNvCxnSpPr/>
            <p:nvPr/>
          </p:nvCxnSpPr>
          <p:spPr>
            <a:xfrm flipH="1">
              <a:off x="10292292" y="3285067"/>
              <a:ext cx="1896534" cy="1896533"/>
            </a:xfrm>
            <a:prstGeom prst="line">
              <a:avLst/>
            </a:prstGeom>
            <a:ln w="952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1" name="Straight Connector 10"/>
            <p:cNvCxnSpPr/>
            <p:nvPr/>
          </p:nvCxnSpPr>
          <p:spPr>
            <a:xfrm flipH="1">
              <a:off x="10443103" y="3131080"/>
              <a:ext cx="1745722" cy="1745720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2" name="Straight Connector 11"/>
            <p:cNvCxnSpPr/>
            <p:nvPr/>
          </p:nvCxnSpPr>
          <p:spPr>
            <a:xfrm flipH="1">
              <a:off x="10918826" y="3683001"/>
              <a:ext cx="1270001" cy="1269999"/>
            </a:xfrm>
            <a:prstGeom prst="line">
              <a:avLst/>
            </a:prstGeom>
            <a:ln w="28575">
              <a:solidFill>
                <a:schemeClr val="tx1"/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4212" y="4487332"/>
            <a:ext cx="8534400" cy="1507067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4212" y="685800"/>
            <a:ext cx="8534400" cy="36152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904412" y="6172200"/>
            <a:ext cx="16002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r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D03AF1CF-92FE-444A-BDD6-B908341C4F17}" type="datetimeFigureOut">
              <a:rPr lang="ru-RU" smtClean="0"/>
              <a:t>12.03.2026</a:t>
            </a:fld>
            <a:endParaRPr lang="ru-RU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84212" y="6172200"/>
            <a:ext cx="7543800" cy="365125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0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endParaRPr lang="ru-RU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363200" y="5578475"/>
            <a:ext cx="1142245" cy="6699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3200" b="0" i="0">
                <a:solidFill>
                  <a:schemeClr val="bg2">
                    <a:lumMod val="50000"/>
                  </a:schemeClr>
                </a:solidFill>
                <a:effectLst/>
                <a:latin typeface="+mn-lt"/>
              </a:defRPr>
            </a:lvl1pPr>
          </a:lstStyle>
          <a:p>
            <a:fld id="{7D017D8E-D479-43A2-A7B4-7353C2BB268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659219279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  <p:sldLayoutId id="2147483684" r:id="rId12"/>
    <p:sldLayoutId id="2147483685" r:id="rId13"/>
    <p:sldLayoutId id="2147483686" r:id="rId14"/>
    <p:sldLayoutId id="2147483687" r:id="rId15"/>
    <p:sldLayoutId id="2147483688" r:id="rId16"/>
    <p:sldLayoutId id="2147483689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 cap="all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20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8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6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tx1"/>
        </a:buClr>
        <a:buSzPct val="80000"/>
        <a:buFont typeface="Wingdings 3" panose="05040102010807070707" pitchFamily="18" charset="2"/>
        <a:buChar char=""/>
        <a:defRPr sz="1400" kern="1200" cap="none">
          <a:solidFill>
            <a:schemeClr val="bg2">
              <a:lumMod val="75000"/>
            </a:schemeClr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CCB00110-4375-4A12-8804-E90B4C144A4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978568" y="1395663"/>
            <a:ext cx="10234863" cy="3317458"/>
          </a:xfrm>
        </p:spPr>
        <p:txBody>
          <a:bodyPr>
            <a:noAutofit/>
          </a:bodyPr>
          <a:lstStyle/>
          <a:p>
            <a:r>
              <a:rPr lang="ru-RU" sz="4800" b="1" dirty="0">
                <a:effectLst/>
                <a:latin typeface="quote-cjk-patch"/>
              </a:rPr>
              <a:t>Цифровой двойник доступного города: Навигатор для всех</a:t>
            </a:r>
            <a:br>
              <a:rPr lang="ru-RU" sz="4800" b="1" dirty="0">
                <a:effectLst/>
                <a:latin typeface="quote-cjk-patch"/>
              </a:rPr>
            </a:br>
            <a:r>
              <a:rPr lang="ru-RU" sz="4800" b="1" dirty="0">
                <a:effectLst/>
                <a:latin typeface="quote-cjk-patch"/>
              </a:rPr>
              <a:t>(потребность)</a:t>
            </a:r>
            <a:br>
              <a:rPr lang="ru-RU" sz="4800" b="1" dirty="0">
                <a:solidFill>
                  <a:srgbClr val="0F1115"/>
                </a:solidFill>
                <a:effectLst/>
                <a:latin typeface="quote-cjk-patch"/>
              </a:rPr>
            </a:br>
            <a:endParaRPr lang="ru-RU" sz="4800" dirty="0"/>
          </a:p>
        </p:txBody>
      </p:sp>
      <p:sp>
        <p:nvSpPr>
          <p:cNvPr id="3" name="Подзаголовок 2">
            <a:extLst>
              <a:ext uri="{FF2B5EF4-FFF2-40B4-BE49-F238E27FC236}">
                <a16:creationId xmlns:a16="http://schemas.microsoft.com/office/drawing/2014/main" id="{13A84297-4CA1-43F6-A26D-E96E1C272CAC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774709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90B118A-F722-40A6-B956-CFD7A5CDC0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проблема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7B480B10-2B57-4897-BCFC-89F80E55A08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ru-RU" dirty="0"/>
              <a:t>Контекст</a:t>
            </a:r>
            <a:r>
              <a:rPr lang="en-US" dirty="0"/>
              <a:t>: </a:t>
            </a:r>
            <a:r>
              <a:rPr lang="ru-RU" b="0" i="0" dirty="0">
                <a:solidFill>
                  <a:srgbClr val="0F1115"/>
                </a:solidFill>
                <a:effectLst/>
              </a:rPr>
              <a:t>Мамы с колясками и люди на инвалидных креслах не могут спланировать маршрут, потому что не знают, где есть работающий лифт, пандус или где внезапно появился высокий бордюр.</a:t>
            </a:r>
            <a:endParaRPr lang="en-US" b="0" i="0" dirty="0">
              <a:solidFill>
                <a:srgbClr val="0F1115"/>
              </a:solidFill>
              <a:effectLst/>
            </a:endParaRPr>
          </a:p>
          <a:p>
            <a:r>
              <a:rPr lang="ru-RU" dirty="0"/>
              <a:t>Проблема: </a:t>
            </a:r>
            <a:r>
              <a:rPr lang="ru-RU" b="0" i="0" dirty="0">
                <a:solidFill>
                  <a:srgbClr val="0F1115"/>
                </a:solidFill>
                <a:effectLst/>
              </a:rPr>
              <a:t>Существующие навигаторы (2ГИС, Яндекс Карты) строят маршруты по скорости, игнорируя физические барьеры. Это приводит к ситуациям, когда человек упирается в лестницу и вынужден возвращаться или искать обход.</a:t>
            </a:r>
          </a:p>
          <a:p>
            <a:r>
              <a:rPr lang="ru-RU" i="0" dirty="0">
                <a:effectLst/>
                <a:latin typeface="+mj-lt"/>
              </a:rPr>
              <a:t>Последствия: </a:t>
            </a:r>
            <a:r>
              <a:rPr lang="ru-RU" b="0" i="0" dirty="0">
                <a:solidFill>
                  <a:srgbClr val="0F1115"/>
                </a:solidFill>
                <a:effectLst/>
              </a:rPr>
              <a:t> Потеря времени, физическое истощение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05211912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20D86103-DF76-4773-A216-56BB2779EFD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0437812" y="1503501"/>
            <a:ext cx="518946" cy="1507067"/>
          </a:xfrm>
        </p:spPr>
        <p:txBody>
          <a:bodyPr>
            <a:normAutofit fontScale="90000"/>
          </a:bodyPr>
          <a:lstStyle/>
          <a:p>
            <a:r>
              <a:rPr lang="ru-RU" dirty="0"/>
              <a:t>клиентура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59E150B2-00B9-4910-90E7-E59430A65B3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684212" y="685800"/>
            <a:ext cx="8534400" cy="6172200"/>
          </a:xfrm>
        </p:spPr>
        <p:txBody>
          <a:bodyPr>
            <a:normAutofit lnSpcReduction="10000"/>
          </a:bodyPr>
          <a:lstStyle/>
          <a:p>
            <a:pPr algn="l">
              <a:buFont typeface="Wingdings" panose="05000000000000000000" pitchFamily="2" charset="2"/>
              <a:buChar char="Ø"/>
            </a:pPr>
            <a:r>
              <a:rPr lang="ru-RU" b="1" i="0" dirty="0">
                <a:effectLst/>
              </a:rPr>
              <a:t>Целевые сегменты (B2C &amp; B2G):</a:t>
            </a:r>
            <a:endParaRPr lang="ru-RU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</a:rPr>
              <a:t>Ядро пользователей (B2C):</a:t>
            </a:r>
            <a:r>
              <a:rPr lang="ru-RU" b="0" i="0" dirty="0">
                <a:effectLst/>
              </a:rPr>
              <a:t> Родители с колясками (25-40 лет) и люди с инвалидностью (нарушения опорно-двигательного аппарата). Это драйверы спроса и источник данных.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1" i="0" dirty="0">
                <a:effectLst/>
              </a:rPr>
              <a:t>Платежеспособный клиент (B2G):</a:t>
            </a:r>
            <a:r>
              <a:rPr lang="ru-RU" b="0" i="0" dirty="0">
                <a:effectLst/>
              </a:rPr>
              <a:t> Муниципалитеты и городские администрации, реализующие программу «Доступная среда» .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b="1" i="0" dirty="0">
                <a:effectLst/>
              </a:rPr>
              <a:t>JTBD (</a:t>
            </a:r>
            <a:r>
              <a:rPr lang="ru-RU" b="1" i="0" dirty="0" err="1">
                <a:effectLst/>
              </a:rPr>
              <a:t>Jobs</a:t>
            </a:r>
            <a:r>
              <a:rPr lang="ru-RU" b="1" i="0" dirty="0">
                <a:effectLst/>
              </a:rPr>
              <a:t> To Be </a:t>
            </a:r>
            <a:r>
              <a:rPr lang="ru-RU" b="1" i="0" dirty="0" err="1">
                <a:effectLst/>
              </a:rPr>
              <a:t>Done</a:t>
            </a:r>
            <a:r>
              <a:rPr lang="ru-RU" b="1" i="0" dirty="0">
                <a:effectLst/>
              </a:rPr>
              <a:t>):</a:t>
            </a:r>
            <a:endParaRPr lang="ru-RU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1" dirty="0">
                <a:effectLst/>
              </a:rPr>
              <a:t>Для пользователя:</a:t>
            </a:r>
            <a:r>
              <a:rPr lang="ru-RU" b="0" i="0" dirty="0">
                <a:effectLst/>
              </a:rPr>
              <a:t> «Когда я планирую прогулку или поездку по городу с коляской, я хочу быть уверена, что мой маршрут не будет заблокирован неожиданным препятствием, чтобы чувствовать себя спокойно и не тратить время на поиск обходных путей.»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1" dirty="0">
                <a:effectLst/>
              </a:rPr>
              <a:t>Для города:</a:t>
            </a:r>
            <a:r>
              <a:rPr lang="ru-RU" b="0" i="0" dirty="0">
                <a:effectLst/>
              </a:rPr>
              <a:t> «Когда мы распределяем бюджет на доступную среду, мы хотим видеть объективные данные о проблемных зонах, чтобы тратить деньги эффективно, а не "в стол".»</a:t>
            </a:r>
          </a:p>
          <a:p>
            <a:pPr algn="l">
              <a:buFont typeface="Wingdings" panose="05000000000000000000" pitchFamily="2" charset="2"/>
              <a:buChar char="Ø"/>
            </a:pPr>
            <a:r>
              <a:rPr lang="ru-RU" b="1" i="0" dirty="0">
                <a:effectLst/>
              </a:rPr>
              <a:t>Ключевые барьеры:</a:t>
            </a:r>
            <a:endParaRPr lang="ru-RU" b="0" i="0" dirty="0">
              <a:effectLst/>
            </a:endParaRP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Недоверие к актуальности данных.</a:t>
            </a:r>
          </a:p>
          <a:p>
            <a:pPr marL="742950" lvl="1" indent="-285750" algn="l">
              <a:buFont typeface="Arial" panose="020B0604020202020204" pitchFamily="34" charset="0"/>
              <a:buChar char="•"/>
            </a:pPr>
            <a:r>
              <a:rPr lang="ru-RU" b="0" i="0" dirty="0">
                <a:effectLst/>
              </a:rPr>
              <a:t>Нежелание муниципалитетов платить за ПО (нужна демонстрация ценности).</a:t>
            </a:r>
          </a:p>
          <a:p>
            <a:pPr marL="457200" lvl="1" indent="0" algn="l">
              <a:buNone/>
            </a:pPr>
            <a:endParaRPr lang="ru-RU" b="0" i="0" dirty="0">
              <a:effectLst/>
            </a:endParaRP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30904950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72D0AFE3-2580-40A6-8606-06BB85DB764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325726" y="425316"/>
            <a:ext cx="577515" cy="1507067"/>
          </a:xfrm>
          <a:ln>
            <a:noFill/>
          </a:ln>
        </p:spPr>
        <p:txBody>
          <a:bodyPr>
            <a:normAutofit fontScale="90000"/>
          </a:bodyPr>
          <a:lstStyle/>
          <a:p>
            <a:r>
              <a:rPr lang="ru-RU" dirty="0"/>
              <a:t>рынок</a:t>
            </a:r>
          </a:p>
        </p:txBody>
      </p:sp>
      <p:graphicFrame>
        <p:nvGraphicFramePr>
          <p:cNvPr id="4" name="Таблица 4">
            <a:extLst>
              <a:ext uri="{FF2B5EF4-FFF2-40B4-BE49-F238E27FC236}">
                <a16:creationId xmlns:a16="http://schemas.microsoft.com/office/drawing/2014/main" id="{8EE172E5-CC3C-4813-A509-68C71B3BA07A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3114961002"/>
              </p:ext>
            </p:extLst>
          </p:nvPr>
        </p:nvGraphicFramePr>
        <p:xfrm>
          <a:off x="1229644" y="289627"/>
          <a:ext cx="9037302" cy="627874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012434">
                  <a:extLst>
                    <a:ext uri="{9D8B030D-6E8A-4147-A177-3AD203B41FA5}">
                      <a16:colId xmlns:a16="http://schemas.microsoft.com/office/drawing/2014/main" val="1114940218"/>
                    </a:ext>
                  </a:extLst>
                </a:gridCol>
                <a:gridCol w="3012434">
                  <a:extLst>
                    <a:ext uri="{9D8B030D-6E8A-4147-A177-3AD203B41FA5}">
                      <a16:colId xmlns:a16="http://schemas.microsoft.com/office/drawing/2014/main" val="3164863977"/>
                    </a:ext>
                  </a:extLst>
                </a:gridCol>
                <a:gridCol w="3012434">
                  <a:extLst>
                    <a:ext uri="{9D8B030D-6E8A-4147-A177-3AD203B41FA5}">
                      <a16:colId xmlns:a16="http://schemas.microsoft.com/office/drawing/2014/main" val="868405357"/>
                    </a:ext>
                  </a:extLst>
                </a:gridCol>
              </a:tblGrid>
              <a:tr h="528621"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Показатель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Расчет 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dirty="0">
                          <a:latin typeface="+mj-lt"/>
                        </a:rPr>
                        <a:t>Допущения и Источники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636733423"/>
                  </a:ext>
                </a:extLst>
              </a:tr>
              <a:tr h="2114483">
                <a:tc>
                  <a:txBody>
                    <a:bodyPr/>
                    <a:lstStyle/>
                    <a:p>
                      <a:r>
                        <a:rPr lang="en-US" sz="1600" dirty="0">
                          <a:latin typeface="+mn-lt"/>
                        </a:rPr>
                        <a:t>Total Addressable Market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12 млн чел × 1 200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 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14,4 млрд </a:t>
                      </a:r>
                      <a:r>
                        <a:rPr lang="ru-RU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/год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Допущение: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Весь рынок навигации в РФ. 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Источник: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Данные аналитических агентств о рынке картографических сервисов, оценка активной аудитории 2ГИС/Яндекса.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574385739"/>
                  </a:ext>
                </a:extLst>
              </a:tr>
              <a:tr h="2114483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Serviceable Available Market</a:t>
                      </a:r>
                      <a:endParaRPr lang="ru-RU" sz="16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 млн чел × 1 200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 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3,6 млрд </a:t>
                      </a:r>
                      <a:r>
                        <a:rPr lang="ru-RU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/год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1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Допущение: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Только маломобильные группы населения РФ (~2% от населения). 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Источник: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Данные Росстата и ВОЗ о численности людей с инвалидностью и родители с детьми до 3 лет.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865528501"/>
                  </a:ext>
                </a:extLst>
              </a:tr>
              <a:tr h="1290086">
                <a:tc>
                  <a:txBody>
                    <a:bodyPr/>
                    <a:lstStyle/>
                    <a:p>
                      <a:r>
                        <a:rPr lang="en-US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Serviceable Obtainable Market</a:t>
                      </a:r>
                      <a:endParaRPr lang="ru-RU" sz="1600" b="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30 000 чел × 1 200 </a:t>
                      </a:r>
                      <a:r>
                        <a:rPr lang="ru-RU" sz="1600" b="0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 = 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36 млн </a:t>
                      </a:r>
                      <a:r>
                        <a:rPr lang="ru-RU" sz="1600" b="1" i="0" kern="1200" dirty="0" err="1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руб</a:t>
                      </a:r>
                      <a:r>
                        <a:rPr lang="ru-RU" sz="1600" b="1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/год</a:t>
                      </a:r>
                      <a:r>
                        <a:rPr lang="ru-RU" sz="16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 (1-й год)</a:t>
                      </a:r>
                      <a:endParaRPr lang="ru-RU" sz="1600" dirty="0">
                        <a:latin typeface="+mn-lt"/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ru-RU" sz="1600" b="0" i="1" dirty="0">
                          <a:effectLst/>
                          <a:latin typeface="+mn-lt"/>
                        </a:rPr>
                        <a:t>Допущение: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 Охват 1% от SAM в крупных городах-миллионниках (Москва, СПб, Казань) </a:t>
                      </a:r>
                      <a:r>
                        <a:rPr lang="en-US" sz="1600" b="0" dirty="0">
                          <a:effectLst/>
                          <a:latin typeface="+mn-lt"/>
                        </a:rPr>
                        <a:t>]</a:t>
                      </a:r>
                      <a:r>
                        <a:rPr lang="ru-RU" sz="1600" b="0" dirty="0">
                          <a:effectLst/>
                          <a:latin typeface="+mn-lt"/>
                        </a:rPr>
                        <a:t>. Целевая доля рынка на 3-й год.</a:t>
                      </a:r>
                    </a:p>
                  </a:txBody>
                  <a:tcPr marL="152400" marT="95250" marB="95250" anchor="ctr"/>
                </a:tc>
                <a:extLst>
                  <a:ext uri="{0D108BD9-81ED-4DB2-BD59-A6C34878D82A}">
                    <a16:rowId xmlns:a16="http://schemas.microsoft.com/office/drawing/2014/main" val="258455933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618777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>
            <a:extLst>
              <a:ext uri="{FF2B5EF4-FFF2-40B4-BE49-F238E27FC236}">
                <a16:creationId xmlns:a16="http://schemas.microsoft.com/office/drawing/2014/main" id="{892914D2-8660-40B7-A237-25CF5EE6A97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dirty="0"/>
              <a:t>Почему сейчас</a:t>
            </a:r>
          </a:p>
        </p:txBody>
      </p:sp>
      <p:sp>
        <p:nvSpPr>
          <p:cNvPr id="3" name="Объект 2">
            <a:extLst>
              <a:ext uri="{FF2B5EF4-FFF2-40B4-BE49-F238E27FC236}">
                <a16:creationId xmlns:a16="http://schemas.microsoft.com/office/drawing/2014/main" id="{89837DFE-1684-41D2-8209-42FAE636D75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/>
            <a:r>
              <a:rPr lang="ru-RU" b="1" i="0" dirty="0">
                <a:effectLst/>
              </a:rPr>
              <a:t>Драйверы:</a:t>
            </a:r>
            <a:endParaRPr lang="ru-RU" b="0" i="0" dirty="0">
              <a:effectLst/>
            </a:endParaRP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Государственный заказ:</a:t>
            </a:r>
            <a:r>
              <a:rPr lang="ru-RU" b="0" i="0" dirty="0">
                <a:effectLst/>
              </a:rPr>
              <a:t> Программа «Доступная среда» продолжает действовать, и у государства есть потребность в инструментах для аудита эффективности потраченных средств.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Общественный запрос:</a:t>
            </a:r>
            <a:r>
              <a:rPr lang="ru-RU" b="0" i="0" dirty="0">
                <a:effectLst/>
              </a:rPr>
              <a:t> Инклюзивная повестка и эмпатия в обществе растут. Люди готовы помогать (краудсорсинг) и требовать удобной среды.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Зрелость технологий:</a:t>
            </a:r>
            <a:r>
              <a:rPr lang="ru-RU" b="0" i="0" dirty="0">
                <a:effectLst/>
              </a:rPr>
              <a:t> У всех есть смартфоны с GPS, а краудсорсинговые модели (как в </a:t>
            </a:r>
            <a:r>
              <a:rPr lang="ru-RU" b="0" i="0" dirty="0" err="1">
                <a:effectLst/>
              </a:rPr>
              <a:t>Яндекс.Картах</a:t>
            </a:r>
            <a:r>
              <a:rPr lang="ru-RU" b="0" i="0" dirty="0">
                <a:effectLst/>
              </a:rPr>
              <a:t> с пробками) доказали свою эффективность и привычны для пользователей.</a:t>
            </a:r>
          </a:p>
          <a:p>
            <a:pPr algn="l">
              <a:buFont typeface="+mj-lt"/>
              <a:buAutoNum type="arabicPeriod"/>
            </a:pPr>
            <a:r>
              <a:rPr lang="ru-RU" b="1" i="0" dirty="0">
                <a:effectLst/>
              </a:rPr>
              <a:t>Недовольство текущими решениями:</a:t>
            </a:r>
            <a:r>
              <a:rPr lang="ru-RU" b="0" i="0" dirty="0">
                <a:effectLst/>
              </a:rPr>
              <a:t> Крупные игроки (2ГИС, Яндекс) не решают эту проблему, оставляя нишу открытой.</a:t>
            </a:r>
          </a:p>
          <a:p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598854961"/>
      </p:ext>
    </p:extLst>
  </p:cSld>
  <p:clrMapOvr>
    <a:masterClrMapping/>
  </p:clrMapOvr>
</p:sld>
</file>

<file path=ppt/theme/theme1.xml><?xml version="1.0" encoding="utf-8"?>
<a:theme xmlns:a="http://schemas.openxmlformats.org/drawingml/2006/main" name="Сектор">
  <a:themeElements>
    <a:clrScheme name="Сектор">
      <a:dk1>
        <a:sysClr val="windowText" lastClr="000000"/>
      </a:dk1>
      <a:lt1>
        <a:sysClr val="window" lastClr="FFFFFF"/>
      </a:lt1>
      <a:dk2>
        <a:srgbClr val="146194"/>
      </a:dk2>
      <a:lt2>
        <a:srgbClr val="76DBF4"/>
      </a:lt2>
      <a:accent1>
        <a:srgbClr val="052F61"/>
      </a:accent1>
      <a:accent2>
        <a:srgbClr val="A50E82"/>
      </a:accent2>
      <a:accent3>
        <a:srgbClr val="14967C"/>
      </a:accent3>
      <a:accent4>
        <a:srgbClr val="6A9E1F"/>
      </a:accent4>
      <a:accent5>
        <a:srgbClr val="E87D37"/>
      </a:accent5>
      <a:accent6>
        <a:srgbClr val="C62324"/>
      </a:accent6>
      <a:hlink>
        <a:srgbClr val="0D2E46"/>
      </a:hlink>
      <a:folHlink>
        <a:srgbClr val="356A95"/>
      </a:folHlink>
    </a:clrScheme>
    <a:fontScheme name="Сектор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Сектор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hueMod val="94000"/>
                <a:satMod val="140000"/>
                <a:lumMod val="110000"/>
              </a:schemeClr>
            </a:gs>
            <a:gs pos="100000">
              <a:schemeClr val="phClr">
                <a:tint val="84000"/>
                <a:satMod val="16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hueMod val="94000"/>
                <a:satMod val="130000"/>
                <a:lumMod val="128000"/>
              </a:schemeClr>
            </a:gs>
            <a:gs pos="100000">
              <a:schemeClr val="phClr">
                <a:shade val="94000"/>
                <a:lumMod val="88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tint val="76000"/>
              <a:alpha val="60000"/>
              <a:hueMod val="94000"/>
            </a:schemeClr>
          </a:solidFill>
          <a:prstDash val="solid"/>
        </a:ln>
        <a:ln w="15875" cap="rnd" cmpd="sng" algn="ctr">
          <a:solidFill>
            <a:schemeClr val="phClr">
              <a:hueMod val="94000"/>
            </a:schemeClr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innerShdw blurRad="25400" dist="12700" dir="13500000">
              <a:srgbClr val="000000">
                <a:alpha val="45000"/>
              </a:srgbClr>
            </a:innerShdw>
          </a:effectLst>
        </a:effectStyle>
        <a:effectStyle>
          <a:effectLst>
            <a:outerShdw blurRad="50800" dist="38100" dir="5400000" rotWithShape="0">
              <a:srgbClr val="000000">
                <a:alpha val="46000"/>
              </a:srgbClr>
            </a:outerShdw>
          </a:effectLst>
          <a:scene3d>
            <a:camera prst="orthographicFront">
              <a:rot lat="0" lon="0" rev="0"/>
            </a:camera>
            <a:lightRig rig="threePt" dir="t"/>
          </a:scene3d>
          <a:sp3d prstMaterial="plastic">
            <a:bevelT w="25400" h="25400"/>
          </a:sp3d>
        </a:effectStyle>
      </a:effectStyleLst>
      <a:bgFillStyleLst>
        <a:solidFill>
          <a:schemeClr val="phClr"/>
        </a:solidFill>
        <a:gradFill rotWithShape="1">
          <a:gsLst>
            <a:gs pos="1000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lin ang="6120000" scaled="1"/>
        </a:gradFill>
        <a:gradFill rotWithShape="1">
          <a:gsLst>
            <a:gs pos="0">
              <a:schemeClr val="phClr">
                <a:tint val="97000"/>
                <a:hueMod val="92000"/>
                <a:satMod val="169000"/>
                <a:lumMod val="164000"/>
              </a:schemeClr>
            </a:gs>
            <a:gs pos="100000">
              <a:schemeClr val="phClr">
                <a:shade val="96000"/>
                <a:satMod val="120000"/>
                <a:lumMod val="90000"/>
              </a:schemeClr>
            </a:gs>
          </a:gsLst>
          <a:path path="circle">
            <a:fillToRect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Slice" id="{0507925B-6AC9-4358-8E18-C330545D08F8}" vid="{13FEC7C6-62A9-40C4-99D2-581AACACAA2F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Slice</Template>
  <TotalTime>32</TotalTime>
  <Words>483</Words>
  <Application>Microsoft Office PowerPoint</Application>
  <PresentationFormat>Широкоэкранный</PresentationFormat>
  <Paragraphs>34</Paragraphs>
  <Slides>5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5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5</vt:i4>
      </vt:variant>
    </vt:vector>
  </HeadingPairs>
  <TitlesOfParts>
    <vt:vector size="11" baseType="lpstr">
      <vt:lpstr>Arial</vt:lpstr>
      <vt:lpstr>Century Gothic</vt:lpstr>
      <vt:lpstr>quote-cjk-patch</vt:lpstr>
      <vt:lpstr>Wingdings</vt:lpstr>
      <vt:lpstr>Wingdings 3</vt:lpstr>
      <vt:lpstr>Сектор</vt:lpstr>
      <vt:lpstr>Цифровой двойник доступного города: Навигатор для всех (потребность) </vt:lpstr>
      <vt:lpstr>проблема</vt:lpstr>
      <vt:lpstr>клиентура</vt:lpstr>
      <vt:lpstr>рынок</vt:lpstr>
      <vt:lpstr>Почему сейчас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Цифровой двойник доступного города: Навигатор для всех (потребность) </dc:title>
  <dc:creator>user</dc:creator>
  <cp:lastModifiedBy>user</cp:lastModifiedBy>
  <cp:revision>4</cp:revision>
  <dcterms:created xsi:type="dcterms:W3CDTF">2026-03-12T10:35:27Z</dcterms:created>
  <dcterms:modified xsi:type="dcterms:W3CDTF">2026-03-12T11:08:12Z</dcterms:modified>
</cp:coreProperties>
</file>