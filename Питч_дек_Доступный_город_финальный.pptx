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e06763b4834563" /><Relationship Type="http://schemas.openxmlformats.org/officeDocument/2006/relationships/extended-properties" Target="/docProps/app.xml" Id="Ra5c14cc1402e4cb6" /><Relationship Type="http://schemas.openxmlformats.org/officeDocument/2006/relationships/officeDocument" Target="/ppt/presentation.xml" Id="R0959d95444bb46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b286bdc638483b"/>
  </p:sldMasterIdLst>
  <p:notesMasterIdLst>
    <p:notesMasterId xmlns:r="http://schemas.openxmlformats.org/officeDocument/2006/relationships" r:id="R79a42b3a4f6a4c4c"/>
  </p:notesMasterIdLst>
  <p:sldIdLst>
    <p:sldId xmlns:r="http://schemas.openxmlformats.org/officeDocument/2006/relationships" id="256" r:id="R934a21f0027a41d5"/>
    <p:sldId xmlns:r="http://schemas.openxmlformats.org/officeDocument/2006/relationships" id="257" r:id="Ra4e7632fe362485c"/>
    <p:sldId xmlns:r="http://schemas.openxmlformats.org/officeDocument/2006/relationships" id="258" r:id="R018476220c12436b"/>
    <p:sldId xmlns:r="http://schemas.openxmlformats.org/officeDocument/2006/relationships" id="259" r:id="R169f03ce211141ff"/>
    <p:sldId xmlns:r="http://schemas.openxmlformats.org/officeDocument/2006/relationships" id="260" r:id="R2150f785da9b4327"/>
    <p:sldId xmlns:r="http://schemas.openxmlformats.org/officeDocument/2006/relationships" id="261" r:id="R44004059076c47ba"/>
    <p:sldId xmlns:r="http://schemas.openxmlformats.org/officeDocument/2006/relationships" id="262" r:id="Re321a4a4ef424a38"/>
    <p:sldId xmlns:r="http://schemas.openxmlformats.org/officeDocument/2006/relationships" id="263" r:id="R63604dc240a14217"/>
    <p:sldId xmlns:r="http://schemas.openxmlformats.org/officeDocument/2006/relationships" id="264" r:id="R3b746b70e17b43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604568e5b44e59" /><Relationship Type="http://schemas.openxmlformats.org/officeDocument/2006/relationships/slideMaster" Target="/ppt/slideMasters/slideMaster1.xml" Id="Rbdb286bdc638483b" /><Relationship Type="http://schemas.openxmlformats.org/officeDocument/2006/relationships/notesMaster" Target="/ppt/notesMasters/notesMaster1.xml" Id="R79a42b3a4f6a4c4c" /><Relationship Type="http://schemas.openxmlformats.org/officeDocument/2006/relationships/presProps" Target="/ppt/presProps.xml" Id="R1de8dacfd8e1422b" /><Relationship Type="http://schemas.openxmlformats.org/officeDocument/2006/relationships/tableStyles" Target="/ppt/tableStyles.xml" Id="R28ca092ecd404fc8" /><Relationship Type="http://schemas.openxmlformats.org/officeDocument/2006/relationships/slide" Target="/ppt/slides/slide1.xml" Id="R934a21f0027a41d5" /><Relationship Type="http://schemas.openxmlformats.org/officeDocument/2006/relationships/slide" Target="/ppt/slides/slide2.xml" Id="Ra4e7632fe362485c" /><Relationship Type="http://schemas.openxmlformats.org/officeDocument/2006/relationships/slide" Target="/ppt/slides/slide3.xml" Id="R018476220c12436b" /><Relationship Type="http://schemas.openxmlformats.org/officeDocument/2006/relationships/slide" Target="/ppt/slides/slide4.xml" Id="R169f03ce211141ff" /><Relationship Type="http://schemas.openxmlformats.org/officeDocument/2006/relationships/slide" Target="/ppt/slides/slide5.xml" Id="R2150f785da9b4327" /><Relationship Type="http://schemas.openxmlformats.org/officeDocument/2006/relationships/slide" Target="/ppt/slides/slide6.xml" Id="R44004059076c47ba" /><Relationship Type="http://schemas.openxmlformats.org/officeDocument/2006/relationships/slide" Target="/ppt/slides/slide7.xml" Id="Re321a4a4ef424a38" /><Relationship Type="http://schemas.openxmlformats.org/officeDocument/2006/relationships/slide" Target="/ppt/slides/slide8.xml" Id="R63604dc240a14217" /><Relationship Type="http://schemas.openxmlformats.org/officeDocument/2006/relationships/slide" Target="/ppt/slides/slide9.xml" Id="R3b746b70e17b43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7d541785f248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9887777b0f4dfd" /><Relationship Type="http://schemas.openxmlformats.org/officeDocument/2006/relationships/notesMaster" Target="/ppt/notesMasters/notesMaster1.xml" Id="R4bf7081a3a7d42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6d04635e7a4816" /><Relationship Type="http://schemas.openxmlformats.org/officeDocument/2006/relationships/notesMaster" Target="/ppt/notesMasters/notesMaster1.xml" Id="R8a771119ff3045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d419e86ac94333" /><Relationship Type="http://schemas.openxmlformats.org/officeDocument/2006/relationships/notesMaster" Target="/ppt/notesMasters/notesMaster1.xml" Id="R2e06281d653447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81efe0ccc24973" /><Relationship Type="http://schemas.openxmlformats.org/officeDocument/2006/relationships/notesMaster" Target="/ppt/notesMasters/notesMaster1.xml" Id="R8b0646350e2c48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d547e8a6c44f58" /><Relationship Type="http://schemas.openxmlformats.org/officeDocument/2006/relationships/notesMaster" Target="/ppt/notesMasters/notesMaster1.xml" Id="R1c0ffd9ca0d445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64c00d4fde4ae1" /><Relationship Type="http://schemas.openxmlformats.org/officeDocument/2006/relationships/notesMaster" Target="/ppt/notesMasters/notesMaster1.xml" Id="R2619f85c67be44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02a5574b6f471d" /><Relationship Type="http://schemas.openxmlformats.org/officeDocument/2006/relationships/notesMaster" Target="/ppt/notesMasters/notesMaster1.xml" Id="R28dc3d67da2640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179a1ac9b64850" /><Relationship Type="http://schemas.openxmlformats.org/officeDocument/2006/relationships/notesMaster" Target="/ppt/notesMasters/notesMaster1.xml" Id="R0c7839d6ddec4f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aded6688da4471" /><Relationship Type="http://schemas.openxmlformats.org/officeDocument/2006/relationships/notesMaster" Target="/ppt/notesMasters/notesMaster1.xml" Id="Rfe5144203f3e41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создаём «Доступный город» — карту, которая помогает человеку выбрать маршрут с учётом ступеней, бордюров и других физических препятствий. Проект уже работает в браузере и устанавливается на телефон как приложение.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Материалы проекта «Доступный город», README.md и IMPLEMENTATION.md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Сегодня навигатор отвечает на вопрос, как пройти быстрее. Нашему пользователю нужен другой ответ: сможет ли он пройти вообще. Ступени, высокий бордюр или неработающий лифт превращают обычный маршрут в тупик.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README.md проекта. Оценка 15–20% используется как проектная гипотеза и требует внешней верификации перед инвестиционной заявкой.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Пользователь задаёт точки маршрута и профиль доступности. Система быстро показывает путь, затем уточняет его по данным OpenStreetMap и отметкам волонтёров. Так человек заранее видит препятствия и может выбрать другой вариант.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README.md проекта, разделы «Наше решение» и «Функциональность»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уже не макет. Работают маршруты, роли, отметки с фото, голосовой ввод и мобильная установка. Волонтёрские данные проходят модерацию, поэтому карта может становиться точнее с каждым новым участником.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IMPLEMENTATION.md и результаты браузерной проверки в outputs/qa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Первый рынок — Москва и область. Пользовательская база здесь измеряется сотнями тысяч семей и миллионами пожилых жителей. Платящим заказчиком может стать муниципалитет, которому нужны данные для планирования доступной среды.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README.md проекта, раздел «Целевая аудитория». Числа требуют независимой проверки.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Яндекс, Google и 2ГИС хорошо решают задачу общей навигации. Наше отличие — профиль доступности и слой свежих данных от людей на месте. Чем активнее сообщество, тем полезнее становится карта для следующего пользователя.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README.md проекта, разделы «Проблема» и «Уникальное торговое предложение»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Пользовательский сервис остаётся бесплатным. Доход формирует B2G-направление: муниципалитет получает аналитику по барьерам и может направлять бюджет туда, где проблема подтверждена данными. Первый коммерческий шаг — пилот с одним округом.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README.md проекта, разделы «Функциональность» и «Бизнес-модель»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сохранили рабочие данные и проверили восстановление резервной копии. Backend прошёл 15 тестов, интерфейс собран и проверен на мобильных размерах. Команде нужен следующий ресурс — организация пилота и волонтёрской сети.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IMPLEMENTATION.md и outputs/final-report.md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ищем 3,5 миллиона рублей на девятимесячный городской пилот. Это учебная финансовая гипотеза. Деньги нужны для развития продукта, полевого аудита, работы с волонтёрами и запуска с муниципалитетом. Результатом станет проверенная карта одного округа и отчёт, по которому можно принимать решения.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Сумма и распределение средств — учебная гипотеза для практического занятия №7, не согласованное инвестиционное предложение.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205fcaf23d4b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a13bf12b5a4fd8" /><Relationship Type="http://schemas.openxmlformats.org/officeDocument/2006/relationships/slideLayout" Target="/ppt/slideLayouts/slideLayout1.xml" Id="R0668b1903db74d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68b1903db74d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6b8d2c3aa94f6d" /><Relationship Type="http://schemas.openxmlformats.org/officeDocument/2006/relationships/image" Target="/ppt/media/image.jpeg" Id="R2f6431ed24934afd" /><Relationship Type="http://schemas.openxmlformats.org/officeDocument/2006/relationships/image" Target="/ppt/media/image.png" Id="R0e3d8aed86334b18" /><Relationship Type="http://schemas.openxmlformats.org/officeDocument/2006/relationships/notesSlide" Target="/ppt/notesSlides/notesSlide1.xml" Id="Rb4ecc1c12edd40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60b168ef34ffd" /><Relationship Type="http://schemas.openxmlformats.org/officeDocument/2006/relationships/notesSlide" Target="/ppt/notesSlides/notesSlide2.xml" Id="R70e04b9c40a744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b20e749f143a2" /><Relationship Type="http://schemas.openxmlformats.org/officeDocument/2006/relationships/image" Target="/ppt/media/image2.jpeg" Id="R25f9b07b0e3e40c7" /><Relationship Type="http://schemas.openxmlformats.org/officeDocument/2006/relationships/notesSlide" Target="/ppt/notesSlides/notesSlide3.xml" Id="Rbbbcf8c5c3e34b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da94370cbb4f5c" /><Relationship Type="http://schemas.openxmlformats.org/officeDocument/2006/relationships/image" Target="/ppt/media/image3.jpeg" Id="Rbfacf6bba04b4215" /><Relationship Type="http://schemas.openxmlformats.org/officeDocument/2006/relationships/notesSlide" Target="/ppt/notesSlides/notesSlide4.xml" Id="Refaf34878dc543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500e6872c47a0" /><Relationship Type="http://schemas.openxmlformats.org/officeDocument/2006/relationships/notesSlide" Target="/ppt/notesSlides/notesSlide5.xml" Id="R513dec8530b345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9a4be34a44b01" /><Relationship Type="http://schemas.openxmlformats.org/officeDocument/2006/relationships/notesSlide" Target="/ppt/notesSlides/notesSlide6.xml" Id="R277322728d244e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6dd3b54134c2d" /><Relationship Type="http://schemas.openxmlformats.org/officeDocument/2006/relationships/notesSlide" Target="/ppt/notesSlides/notesSlide7.xml" Id="R321e4d82c44d4f4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efcef83a204f1f" /><Relationship Type="http://schemas.openxmlformats.org/officeDocument/2006/relationships/notesSlide" Target="/ppt/notesSlides/notesSlide8.xml" Id="R3a703ec2d5bc46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5012d0fcb4912" /><Relationship Type="http://schemas.openxmlformats.org/officeDocument/2006/relationships/image" Target="/ppt/media/image4.jpeg" Id="R89cef3cff1054235" /><Relationship Type="http://schemas.openxmlformats.org/officeDocument/2006/relationships/notesSlide" Target="/ppt/notesSlides/notesSlide9.xml" Id="R6930c7353cb944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BFB1E7-8E5B-4BDB-870B-10E4CB8C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8"/>
          </a:solidFill>
          <a:ln xmlns:a="http://schemas.openxmlformats.org/drawingml/2006/main" w="0">
            <a:noFill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6431ed24934afd"/>
          <a:stretch xmlns:a="http://schemas.openxmlformats.org/drawingml/2006/main"/>
        </p:blipFill>
        <p:spPr>
          <a:xfrm xmlns:a="http://schemas.openxmlformats.org/drawingml/2006/main">
            <a:off x="7268117" y="400050"/>
            <a:ext cx="2799267" cy="6057900"/>
          </a:xfrm>
          <a:prstGeom xmlns:a="http://schemas.openxmlformats.org/drawingml/2006/main" prst="roundRect">
            <a:avLst>
              <a:gd name="adj" fmla="val 5238"/>
            </a:avLst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3d8aed86334b18"/>
          <a:stretch xmlns:a="http://schemas.openxmlformats.org/drawingml/2006/main"/>
        </p:blipFill>
        <p:spPr>
          <a:xfrm xmlns:a="http://schemas.openxmlformats.org/drawingml/2006/main">
            <a:off x="685800" y="590550"/>
            <a:ext cx="1047750" cy="1047750"/>
          </a:xfrm>
          <a:prstGeom xmlns:a="http://schemas.openxmlformats.org/drawingml/2006/main" prst="roundRect">
            <a:avLst>
              <a:gd name="adj" fmla="val 20000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8D6395-F93E-4045-AFEF-23C19DCB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095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Доступный город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9A7110-E8E5-4534-BA70-3A8B0EB0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361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B6F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9B6F6"/>
                </a:solidFill>
                <a:latin typeface="Arial"/>
                <a:ea typeface="Arial"/>
                <a:cs typeface="Arial"/>
              </a:rPr>
              <a:t>Маршруты без физических барьеров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0AA282-2F9E-49D1-AEF5-445CA898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5E2E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E2E8"/>
                </a:solidFill>
                <a:latin typeface="Arial"/>
                <a:ea typeface="Arial"/>
                <a:cs typeface="Arial"/>
              </a:rPr>
              <a:t>Питч-дек для социального и государственного грантового фонда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D66936-25C5-43F0-AF23-8D30B824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FC2C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FC2CB"/>
                </a:solidFill>
                <a:latin typeface="Arial"/>
                <a:ea typeface="Arial"/>
                <a:cs typeface="Arial"/>
              </a:rPr>
              <a:t>Команда 3   2026</a:t>
            </a:r>
          </a:p>
        </p:txBody>
      </p:sp>
    </p:spTree>
    <p:extLst>
      <p:ext uri="{BB962C8B-B14F-4D97-AF65-F5344CB8AC3E}">
        <p14:creationId xmlns:p14="http://schemas.microsoft.com/office/powerpoint/2010/main" val="5711565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7FBC4F-03E9-4E94-A88C-99544886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Обычный навигатор не знает, сможет ли человек пройти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2F4176-A328-4C46-8589-0B9DAF01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8909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909C"/>
                </a:solidFill>
                <a:latin typeface="Arial"/>
                <a:ea typeface="Arial"/>
                <a:cs typeface="Arial"/>
              </a:rPr>
              <a:t>Скорость маршрута не равна его доступности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3EBE7-4E9A-4178-8EFF-3568B496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8001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6F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E164F1-4321-4A53-8FDD-19357ACD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795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E7665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E7665D"/>
                </a:solidFill>
                <a:latin typeface="Arial"/>
                <a:ea typeface="Arial"/>
                <a:cs typeface="Arial"/>
              </a:rPr>
              <a:t>15–20%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985A45-E84E-4FC1-986C-D84C5A44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95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жителей крупных городов регулярно сталкиваются с ограничениями мобильности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51F11C-5E7B-4C30-A377-D4819D7C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812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65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8C2BF9-1303-4401-ABE8-4370AAC2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05000"/>
            <a:ext cx="624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Маршрут заканчивается у лестницы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BA0128-9075-4340-A9B4-F8055D34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66950"/>
            <a:ext cx="624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909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8909C"/>
                </a:solidFill>
                <a:latin typeface="Arial"/>
                <a:ea typeface="Arial"/>
                <a:cs typeface="Arial"/>
              </a:rPr>
              <a:t>Карта ведёт по кратчайшему пути, но не учитывает коляску или травму.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31DEA-3EDB-47AB-879C-135EDACB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242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F5B3F1-8CFC-4819-975C-D3576E44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48000"/>
            <a:ext cx="624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Информация быстро устаревает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96F6FE-AFA5-4E06-B243-47E54106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09950"/>
            <a:ext cx="624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909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8909C"/>
                </a:solidFill>
                <a:latin typeface="Arial"/>
                <a:ea typeface="Arial"/>
                <a:cs typeface="Arial"/>
              </a:rPr>
              <a:t>Ремонт, закрытый лифт или новый пандус появляются раньше официальных обновлений.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03A882-D0F5-43E8-B45A-FCDA1243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909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E1271F-87E0-437A-A96C-662E167D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91000"/>
            <a:ext cx="624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Поездка становится непредсказуемой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B6ED56-7EC4-4FEA-BFE3-9A5ED64A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52950"/>
            <a:ext cx="624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909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8909C"/>
                </a:solidFill>
                <a:latin typeface="Arial"/>
                <a:ea typeface="Arial"/>
                <a:cs typeface="Arial"/>
              </a:rPr>
              <a:t>Человек тратит силы на объезд или отказывается от маршрута.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16F425-25E3-4BE3-87F2-1D998DEB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83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Проблема затрагивает людей на колясках, родителей с детскими колясками, пожилых и людей после травм.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66C84D-E529-45AC-9BED-8F368B11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0"/>
            <a:ext cx="1076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8909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8909C"/>
                </a:solidFill>
                <a:latin typeface="Arial"/>
                <a:ea typeface="Arial"/>
                <a:cs typeface="Arial"/>
              </a:rPr>
              <a:t>Доступный город   02</a:t>
            </a:r>
          </a:p>
        </p:txBody>
      </p:sp>
    </p:spTree>
    <p:extLst>
      <p:ext uri="{BB962C8B-B14F-4D97-AF65-F5344CB8AC3E}">
        <p14:creationId xmlns:p14="http://schemas.microsoft.com/office/powerpoint/2010/main" val="16168165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1C5232-000D-4321-91A8-2C7A5E0F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Карта строит маршрут с учётом реальных барьеров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6C973A-2661-4B69-B942-189A8F5F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8909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909C"/>
                </a:solidFill>
                <a:latin typeface="Arial"/>
                <a:ea typeface="Arial"/>
                <a:cs typeface="Arial"/>
              </a:rPr>
              <a:t>Данные OSM дополняют отметки волонтёров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204D6E-6065-4EED-9440-EBFD9ABD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8001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6F6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f9b07b0e3e40c7"/>
          <a:stretch xmlns:a="http://schemas.openxmlformats.org/drawingml/2006/main"/>
        </p:blipFill>
        <p:spPr>
          <a:xfrm xmlns:a="http://schemas.openxmlformats.org/drawingml/2006/main">
            <a:off x="1667168" y="1790700"/>
            <a:ext cx="1980613" cy="4286250"/>
          </a:xfrm>
          <a:prstGeom xmlns:a="http://schemas.openxmlformats.org/drawingml/2006/main" prst="roundRect">
            <a:avLst>
              <a:gd name="adj" fmla="val 536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082966-1F02-4C10-A2BB-21F5B6AB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05000"/>
            <a:ext cx="62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9B6F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9B6F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AF0506-50B5-4AB7-8800-1CB3BAD5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050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Пользователь выбирает точки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822D15-5485-47D6-8535-6A180188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0505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909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8909C"/>
                </a:solidFill>
                <a:latin typeface="Arial"/>
                <a:ea typeface="Arial"/>
                <a:cs typeface="Arial"/>
              </a:rPr>
              <a:t>Адрес можно ввести текстом или голосом.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0BA266-13F9-45FA-B271-CF591C88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90875"/>
            <a:ext cx="62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9B6F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9B6F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B47D83-77A5-4DD8-8EE4-EC9441EC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9087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Система проверяет маршрут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FF79A7-5866-444E-8AF3-48EC1D14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90925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909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8909C"/>
                </a:solidFill>
                <a:latin typeface="Arial"/>
                <a:ea typeface="Arial"/>
                <a:cs typeface="Arial"/>
              </a:rPr>
              <a:t>Учитывает ступени, бордюры, покрытие и пользовательские отметки.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568446-43F1-4019-AD08-E91B693E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76750"/>
            <a:ext cx="62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9B6F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9B6F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1C9C3B-F211-4C0D-B532-5B0779DC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767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Карта показывает безопасный вариант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665BF7-F261-48E1-9D93-E935D9BB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7680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909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8909C"/>
                </a:solidFill>
                <a:latin typeface="Arial"/>
                <a:ea typeface="Arial"/>
                <a:cs typeface="Arial"/>
              </a:rPr>
              <a:t>Пользователь видит предупреждения и оценку доступности.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FE064B-E342-4974-A02B-DDE86151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0"/>
            <a:ext cx="1076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8909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8909C"/>
                </a:solidFill>
                <a:latin typeface="Arial"/>
                <a:ea typeface="Arial"/>
                <a:cs typeface="Arial"/>
              </a:rPr>
              <a:t>Доступный город   03</a:t>
            </a:r>
          </a:p>
        </p:txBody>
      </p:sp>
    </p:spTree>
    <p:extLst>
      <p:ext uri="{BB962C8B-B14F-4D97-AF65-F5344CB8AC3E}">
        <p14:creationId xmlns:p14="http://schemas.microsoft.com/office/powerpoint/2010/main" val="2086324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D71BF1-4602-4B64-9E24-5C289DA4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Рабочий продукт уже доступен на телефоне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BEC61-3133-4DD3-B512-2CF24092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8909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909C"/>
                </a:solidFill>
                <a:latin typeface="Arial"/>
                <a:ea typeface="Arial"/>
                <a:cs typeface="Arial"/>
              </a:rPr>
              <a:t>PWA устанавливается на Android и поддерживает геолокацию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9329BF-6C08-450C-B314-53603508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8001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6F6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acf6bba04b4215"/>
          <a:stretch xmlns:a="http://schemas.openxmlformats.org/drawingml/2006/main"/>
        </p:blipFill>
        <p:spPr>
          <a:xfrm xmlns:a="http://schemas.openxmlformats.org/drawingml/2006/main">
            <a:off x="7391693" y="1733550"/>
            <a:ext cx="1980613" cy="4286250"/>
          </a:xfrm>
          <a:prstGeom xmlns:a="http://schemas.openxmlformats.org/drawingml/2006/main" prst="roundRect">
            <a:avLst>
              <a:gd name="adj" fmla="val 5789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456340-8F2D-4FE9-84BD-0D11D476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6F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892FC-F908-4412-A8CD-9BFFD21E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8595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Четыре профиля доступности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1961F-D730-4CCE-959C-4BD09212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4790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909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8909C"/>
                </a:solidFill>
                <a:latin typeface="Arial"/>
                <a:ea typeface="Arial"/>
                <a:cs typeface="Arial"/>
              </a:rPr>
              <a:t>Настройки для коляски, слабовидящего, пожилого пользователя и человека после травмы.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4CDA33-DD16-49B9-B4BA-9629E8C7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B96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3BF6ED-C370-4D6C-8BAF-3FC0B1C5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Живые отметки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B58ACC-EE0E-4647-AAA9-4ED6625A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6710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909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8909C"/>
                </a:solidFill>
                <a:latin typeface="Arial"/>
                <a:ea typeface="Arial"/>
                <a:cs typeface="Arial"/>
              </a:rPr>
              <a:t>Одобренные волонтёры добавляют препятствия и фотографии прямо с карты.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284734-0524-47B0-B499-B16990E4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909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31FC1B-33B8-4CB6-99C9-1A5B37E7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2435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Мобильный сценарий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6B5E8C-20EC-4F3D-A8A7-BA629A6C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8630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909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8909C"/>
                </a:solidFill>
                <a:latin typeface="Arial"/>
                <a:ea typeface="Arial"/>
                <a:cs typeface="Arial"/>
              </a:rPr>
              <a:t>Нижняя панель сворачивается жестом, карта остаётся на весь экран.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9C93CA-606A-42FE-9A80-4E6518CC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340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Светлая и тёмная темы   Голосовой ввод   Offline-страница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AC709F-443F-4F8A-91D9-DB9166D3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0"/>
            <a:ext cx="1076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8909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8909C"/>
                </a:solidFill>
                <a:latin typeface="Arial"/>
                <a:ea typeface="Arial"/>
                <a:cs typeface="Arial"/>
              </a:rPr>
              <a:t>Доступный город   04</a:t>
            </a:r>
          </a:p>
        </p:txBody>
      </p:sp>
    </p:spTree>
    <p:extLst>
      <p:ext uri="{BB962C8B-B14F-4D97-AF65-F5344CB8AC3E}">
        <p14:creationId xmlns:p14="http://schemas.microsoft.com/office/powerpoint/2010/main" val="10495540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632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9F8F4B-6E6A-44AF-94E8-3191675C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Первый рынок — Москва и область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F6604E-5336-43E1-89FC-8E3C0A79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9CD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9CDD6"/>
                </a:solidFill>
                <a:latin typeface="Arial"/>
                <a:ea typeface="Arial"/>
                <a:cs typeface="Arial"/>
              </a:rPr>
              <a:t>Начинаем с пользователей, которым доступность нужна каждый день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ED6D7-4A87-45D7-99A9-4368ECAF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795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9B6F6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9B6F6"/>
                </a:solidFill>
                <a:latin typeface="Arial"/>
                <a:ea typeface="Arial"/>
                <a:cs typeface="Arial"/>
              </a:rPr>
              <a:t>250 тыс.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7CA710-A8CE-496A-B68F-5F45F8E37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семей с детскими колясками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F32612-662A-4144-972D-42596816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907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795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52B96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52B96A"/>
                </a:solidFill>
                <a:latin typeface="Arial"/>
                <a:ea typeface="Arial"/>
                <a:cs typeface="Arial"/>
              </a:rPr>
              <a:t>180 тыс.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A5DD92-F32B-472B-935B-954D7BAE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76550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людей с инвалидностью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F67108-0434-4166-8184-FB135A0B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90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795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4C95D"/>
                </a:solidFill>
                <a:latin typeface="Arial"/>
                <a:ea typeface="Arial"/>
                <a:cs typeface="Arial"/>
              </a:rPr>
              <a:t>2,9 млн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7470DD-0772-4315-A8C9-9021D2DD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765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жителей старшего возраста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104B5D-9285-48FF-AA3D-BFFFCA7D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616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545067-F1FE-43E8-B88C-16B45410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9B6F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9B6F6"/>
                </a:solidFill>
                <a:latin typeface="Arial"/>
                <a:ea typeface="Arial"/>
                <a:cs typeface="Arial"/>
              </a:rPr>
              <a:t>Покупатель B2G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6422D9-2FCF-4D1F-8388-9EA173FC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19650"/>
            <a:ext cx="7696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Муниципалитет получает карту проблемных участков и данные для приоритизации городской программы доступной среды.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0553E2-33CF-4E9B-8257-52AF1FC4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9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CB2B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CB2BC"/>
                </a:solidFill>
                <a:latin typeface="Arial"/>
                <a:ea typeface="Arial"/>
                <a:cs typeface="Arial"/>
              </a:rPr>
              <a:t>Числа — рабочая оценка из материалов проекта. Перед заявкой фонд потребует подтверждение официальной статистикой.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DE4B87-73F6-4358-9B6F-E707B6D0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0"/>
            <a:ext cx="1076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8909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8909C"/>
                </a:solidFill>
                <a:latin typeface="Arial"/>
                <a:ea typeface="Arial"/>
                <a:cs typeface="Arial"/>
              </a:rPr>
              <a:t>Доступный город   05</a:t>
            </a:r>
          </a:p>
        </p:txBody>
      </p:sp>
    </p:spTree>
    <p:extLst>
      <p:ext uri="{BB962C8B-B14F-4D97-AF65-F5344CB8AC3E}">
        <p14:creationId xmlns:p14="http://schemas.microsoft.com/office/powerpoint/2010/main" val="20283352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70AC38-CD0D-46EB-B127-C3275DD3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Отличие — маршрут подтверждают живые данные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FC8B1B-7135-46F4-8650-9506E546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8909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909C"/>
                </a:solidFill>
                <a:latin typeface="Arial"/>
                <a:ea typeface="Arial"/>
                <a:cs typeface="Arial"/>
              </a:rPr>
              <a:t>Существующие карты оптимизируют время, мы оцениваем проходимость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BAB523-1FB0-4FA1-8302-7CC024FA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8001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6F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60437-3FF6-4A2D-954F-0D5396F3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47625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9E2E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332E68-80E7-4156-98FB-F5E58F14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479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8909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8909C"/>
                </a:solidFill>
                <a:latin typeface="Arial"/>
                <a:ea typeface="Arial"/>
                <a:cs typeface="Arial"/>
              </a:rPr>
              <a:t>Обычные карты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4D1B5B-D7FD-4634-BD1A-BAE33E0A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909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74E7B7-4444-4385-B8B4-BC4457B8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146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Кратчайший путь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ABC27-0F2E-4015-96AD-8B9BD88C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147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909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CBE6C6-0FEA-46EE-98B7-8F4551D9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004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Общие данные OSM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93A077-841F-4CD1-823C-19CB2275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909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FC7ECE-C556-4B42-B036-875D49CE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862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Нет волонтёрской проверки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E0A894-5FC3-4E01-B99B-8854FCDC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24050"/>
            <a:ext cx="47625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9525">
            <a:solidFill>
              <a:srgbClr val="D9E2E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7E03E6-5ED1-4EED-A074-FBDC71DA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479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9B6F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9B6F6"/>
                </a:solidFill>
                <a:latin typeface="Arial"/>
                <a:ea typeface="Arial"/>
                <a:cs typeface="Arial"/>
              </a:rPr>
              <a:t>Доступный город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26734B-23AA-4F9A-9540-C6E0831D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289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6F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B20EA6-5B3A-4BC2-8482-ABEBFD12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146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Профиль пользователя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4567F7-A714-41D6-B222-53FBDBB2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147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6F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B5D039-C824-498C-A352-27C52D49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Барьерная карта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896302-59FE-45DB-A8F2-E21F839B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005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6F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D3DC3E-DBCC-42FF-890B-7EE577E3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862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Фото и голоса сообщества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21A397-BC7E-4772-87C9-31F551A7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38800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17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Защита преимущества: локальное сообщество волонтёров и история подтверждённых изменений городской среды.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990C3A-2F52-4497-BE13-5188C331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0"/>
            <a:ext cx="1076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8909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8909C"/>
                </a:solidFill>
                <a:latin typeface="Arial"/>
                <a:ea typeface="Arial"/>
                <a:cs typeface="Arial"/>
              </a:rPr>
              <a:t>Доступный город   06</a:t>
            </a:r>
          </a:p>
        </p:txBody>
      </p:sp>
    </p:spTree>
    <p:extLst>
      <p:ext uri="{BB962C8B-B14F-4D97-AF65-F5344CB8AC3E}">
        <p14:creationId xmlns:p14="http://schemas.microsoft.com/office/powerpoint/2010/main" val="1866838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B15E2C-A1F0-4FB5-A374-DCAE4CA7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82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B2G-модель финансирует бесплатный пользовательский сервис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88324D-E729-48BD-8C1D-83F84D7B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8909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909C"/>
                </a:solidFill>
                <a:latin typeface="Arial"/>
                <a:ea typeface="Arial"/>
                <a:cs typeface="Arial"/>
              </a:rPr>
              <a:t>Муниципалитеты платят за аналитику, жители получают навигацию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47F59-6215-401B-BA42-DFB8546D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8001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6F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E58376-DA1C-4D08-B1B0-BD3F5FF0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9B6F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9B6F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497BA8-3CEC-4097-BD00-41958E46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9812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Для жителей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8CCCD5-555E-4226-9D29-0F40C012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812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8909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8909C"/>
                </a:solidFill>
                <a:latin typeface="Arial"/>
                <a:ea typeface="Arial"/>
                <a:cs typeface="Arial"/>
              </a:rPr>
              <a:t>Бесплатные маршруты и предупреждения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C510B5-A4D9-4301-B87F-ACB7B055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8909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8909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BA0366-5D96-459C-9180-77485D9D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1051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Для муниципалитета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FA16EA-72C2-43B0-827C-A5FFB9CF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051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8909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8909C"/>
                </a:solidFill>
                <a:latin typeface="Arial"/>
                <a:ea typeface="Arial"/>
                <a:cs typeface="Arial"/>
              </a:rPr>
              <a:t>Дашборд, тепловая карта и отчёты по барьерам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8D6974-5089-459C-9E9F-9E6915E7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2B96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2B9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DF83C4-C5B0-4D0F-8C7E-9C3CA164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2291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Для НКО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FD6A72-6DCD-4A4B-9A69-4B363473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2291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8909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8909C"/>
                </a:solidFill>
                <a:latin typeface="Arial"/>
                <a:ea typeface="Arial"/>
                <a:cs typeface="Arial"/>
              </a:rPr>
              <a:t>Совместные аудиты и подтверждение данных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DA73D1-0763-4774-9C04-42C51331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816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04A7E2-8CDF-4CEB-81F5-F763BE83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9B6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9B6F6"/>
                </a:solidFill>
                <a:latin typeface="Arial"/>
                <a:ea typeface="Arial"/>
                <a:cs typeface="Arial"/>
              </a:rPr>
              <a:t>Первый коммерческий этап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0CF25D-0A6D-4D11-B965-A0DD348C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7531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Пилотный контракт с одним округом Москвы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A61055-10EB-46CD-9C6D-F5A2782E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0"/>
            <a:ext cx="1076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8909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8909C"/>
                </a:solidFill>
                <a:latin typeface="Arial"/>
                <a:ea typeface="Arial"/>
                <a:cs typeface="Arial"/>
              </a:rPr>
              <a:t>Доступный город   07</a:t>
            </a:r>
          </a:p>
        </p:txBody>
      </p:sp>
    </p:spTree>
    <p:extLst>
      <p:ext uri="{BB962C8B-B14F-4D97-AF65-F5344CB8AC3E}">
        <p14:creationId xmlns:p14="http://schemas.microsoft.com/office/powerpoint/2010/main" val="18035425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D2E7DB-D820-4306-8414-5E706341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Продукт прошёл техническую проверку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39DDFD-6E2E-434D-9CDC-6F32D857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8909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909C"/>
                </a:solidFill>
                <a:latin typeface="Arial"/>
                <a:ea typeface="Arial"/>
                <a:cs typeface="Arial"/>
              </a:rPr>
              <a:t>Команда готова перейти от демонстрации к городскому пилоту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42637E-E41C-4323-BD17-844D5DAC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8001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6F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0AB52-10E1-4D88-A9AA-D531E4C9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795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9B6F6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9B6F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612573-DA7D-432F-BB09-7118ACD9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backend-тестов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ECB75-98F6-4246-B439-71A54495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0764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795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52B96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52B96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E9B1F4-756B-4672-9BCB-9A0845EC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6225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сохранённых аккаунтов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97DD33-6812-4630-8539-6CFD0555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764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795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4C95D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FDCBAE-65B1-46B7-ADDB-9319575A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76225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сохранённых маршрутов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8FDED-E3DD-499B-AC98-F57173AE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764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795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E7665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E7665D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867AD1-CC02-4C6C-88BE-928A05F3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проверенных отметок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940218-656B-41F8-9289-62A3F355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279EBD-87EF-457E-87B8-AC2C00F4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9B6F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9B6F6"/>
                </a:solidFill>
                <a:latin typeface="Arial"/>
                <a:ea typeface="Arial"/>
                <a:cs typeface="Arial"/>
              </a:rPr>
              <a:t>Команда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2E5880-E6FA-40C7-8919-05F5FD54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Александр Герасименко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D306C6-CF99-4E4F-84EB-FAE4B05B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909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8909C"/>
                </a:solidFill>
                <a:latin typeface="Arial"/>
                <a:ea typeface="Arial"/>
                <a:cs typeface="Arial"/>
              </a:rPr>
              <a:t>Руководитель проекта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B237AA-F8C1-4082-8BB5-7F68ADEC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244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Команда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4B720F-13CB-4638-962E-A6B691DF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958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909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8909C"/>
                </a:solidFill>
                <a:latin typeface="Arial"/>
                <a:ea typeface="Arial"/>
                <a:cs typeface="Arial"/>
              </a:rPr>
              <a:t>Разработка продукта и проверка сценариев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DCD36A-1C1E-4B3A-9F1F-F57DF1D2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244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Следующий найм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AFCD89-D0BE-4960-A149-54367764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958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909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8909C"/>
                </a:solidFill>
                <a:latin typeface="Arial"/>
                <a:ea typeface="Arial"/>
                <a:cs typeface="Arial"/>
              </a:rPr>
              <a:t>Координатор волонтёров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C56C03-5953-417B-B8D7-4A8381FB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8909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8909C"/>
                </a:solidFill>
                <a:latin typeface="Arial"/>
                <a:ea typeface="Arial"/>
                <a:cs typeface="Arial"/>
              </a:rPr>
              <a:t>Резервная копия восстановлена в тестовой БД. Последние изменения интерфейса не потребовали перезапуска рабочей базы.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50FA4A-2656-46F0-9808-D74AA20F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0"/>
            <a:ext cx="1076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8909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8909C"/>
                </a:solidFill>
                <a:latin typeface="Arial"/>
                <a:ea typeface="Arial"/>
                <a:cs typeface="Arial"/>
              </a:rPr>
              <a:t>Доступный город   08</a:t>
            </a:r>
          </a:p>
        </p:txBody>
      </p:sp>
    </p:spTree>
    <p:extLst>
      <p:ext uri="{BB962C8B-B14F-4D97-AF65-F5344CB8AC3E}">
        <p14:creationId xmlns:p14="http://schemas.microsoft.com/office/powerpoint/2010/main" val="13464402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632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FF41FE-515C-445D-8489-48DE67F3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571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Запрос на пилот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6FAA96-571D-4DC2-8485-8A26E930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29B6F6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29B6F6"/>
                </a:solidFill>
                <a:latin typeface="Arial"/>
                <a:ea typeface="Arial"/>
                <a:cs typeface="Arial"/>
              </a:rPr>
              <a:t>3,5 млн 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80C44C-72FE-410F-9B55-59EAAA20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CD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9CDD6"/>
                </a:solidFill>
                <a:latin typeface="Arial"/>
                <a:ea typeface="Arial"/>
                <a:cs typeface="Arial"/>
              </a:rPr>
              <a:t>учебная финансовая гипотеза на 9 месяцев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ADE18-97B4-4D7D-A456-8E4FD5D8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9B6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B6F6"/>
                </a:solidFill>
                <a:latin typeface="Arial"/>
                <a:ea typeface="Arial"/>
                <a:cs typeface="Arial"/>
              </a:rPr>
              <a:t>45%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5AAF6-C0BF-4A35-9EDF-258467F1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575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8E3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8E3E8"/>
                </a:solidFill>
                <a:latin typeface="Arial"/>
                <a:ea typeface="Arial"/>
                <a:cs typeface="Arial"/>
              </a:rPr>
              <a:t>разработка и эксплуатация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01FA08-E08E-4D48-93AF-F01F9008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671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7ED603-D85C-4C2C-A12E-54D0F8D4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8E3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8E3E8"/>
                </a:solidFill>
                <a:latin typeface="Arial"/>
                <a:ea typeface="Arial"/>
                <a:cs typeface="Arial"/>
              </a:rPr>
              <a:t>полевой аудит и волонтёрская сеть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A3C618-BBFC-44E1-814A-E3938AE9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3AE757-AF82-47DD-A309-096AB107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76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8E3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8E3E8"/>
                </a:solidFill>
                <a:latin typeface="Arial"/>
                <a:ea typeface="Arial"/>
                <a:cs typeface="Arial"/>
              </a:rPr>
              <a:t>пилот с муниципалитетом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75D7DB-3725-4A44-B88C-EDBDF2E9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863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7B07CF-ECA1-4E55-8AA4-1642C587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863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8E3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8E3E8"/>
                </a:solidFill>
                <a:latin typeface="Arial"/>
                <a:ea typeface="Arial"/>
                <a:cs typeface="Arial"/>
              </a:rPr>
              <a:t>юридическая работа и коммуникации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cef3cff1054235"/>
          <a:stretch xmlns:a="http://schemas.openxmlformats.org/drawingml/2006/main"/>
        </p:blipFill>
        <p:spPr>
          <a:xfrm xmlns:a="http://schemas.openxmlformats.org/drawingml/2006/main">
            <a:off x="7765132" y="666750"/>
            <a:ext cx="2376736" cy="5143500"/>
          </a:xfrm>
          <a:prstGeom xmlns:a="http://schemas.openxmlformats.org/drawingml/2006/main" prst="roundRect">
            <a:avLst>
              <a:gd name="adj" fmla="val 6111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284577-02A7-4BE8-A992-22EF4F69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905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9B6F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9B6F6"/>
                </a:solidFill>
                <a:latin typeface="Arial"/>
                <a:ea typeface="Arial"/>
                <a:cs typeface="Arial"/>
              </a:rPr>
              <a:t>Цель пилота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0F4999-5843-46AE-826F-937D3F18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9120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97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Проверим один округ и передадим подтверждённые маршруты вместе с отчётом по барьерам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B6E7E4-B77C-4E7A-85AE-16B32516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9B6F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9B6F6"/>
                </a:solidFill>
                <a:latin typeface="Arial"/>
                <a:ea typeface="Arial"/>
                <a:cs typeface="Arial"/>
              </a:rPr>
              <a:t>gerasimenko-05@bk.ru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17F8CE-9540-4654-935B-1763E85F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0"/>
            <a:ext cx="1076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8909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8909C"/>
                </a:solidFill>
                <a:latin typeface="Arial"/>
                <a:ea typeface="Arial"/>
                <a:cs typeface="Arial"/>
              </a:rPr>
              <a:t>Доступный город   09</a:t>
            </a:r>
          </a:p>
        </p:txBody>
      </p:sp>
    </p:spTree>
    <p:extLst>
      <p:ext uri="{BB962C8B-B14F-4D97-AF65-F5344CB8AC3E}">
        <p14:creationId xmlns:p14="http://schemas.microsoft.com/office/powerpoint/2010/main" val="11504568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2026-09-26T11:49:20.6720000Z</dcterms:created>
  <dcterms:modified xsi:type="dcterms:W3CDTF">2026-09-26T11:49:20.6720000Z</dcterms:modified>
</coreProperties>
</file>