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DDF68-FA78-42D9-955C-3FB788B2671F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141961-57FC-4F2B-8BB6-C1CDBAA806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211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41961-57FC-4F2B-8BB6-C1CDBAA806F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92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597779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36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67160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2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02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311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511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95661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8577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514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37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E4C8C64-A9A5-4345-B0A5-F779D79C8314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F78EDBC-97C2-484D-A534-E8DAF21A421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10678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5342F-40F2-423F-A401-28E754B65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9" y="1788454"/>
            <a:ext cx="8464114" cy="2167825"/>
          </a:xfrm>
        </p:spPr>
        <p:txBody>
          <a:bodyPr/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Готовый учебно-методический набор для изучения логических элементов и цифровых схем.</a:t>
            </a:r>
            <a:br>
              <a:rPr lang="ru-RU" sz="32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</a:b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C6798B2-D816-48CF-8598-3672360D12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806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4EC975-761B-4C85-8C59-7FC4C8BC2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Шаг 1. Фиксация идеи и проблемного контекста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E72500-8A02-4ACE-9E8A-783BFEAD4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08271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Идея продукта: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Готовый учебно-методический набор для изучения логических элементов, включающий аппаратную часть и методические материалы «под ключ».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Проблема: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Решение логических уравнений в школах носит формальный характер, ученики решают их механически и не понимают смысл и возможности применения решаемых выражений. Но для более глубокого изучения нет специальных учебных материалов, с помощью которых можно не только строить электрические схемы и визуально решать уравнения, но и, например, объяснить работу простейшей ячейки памяти – триггера. Мы решили сделать свой конструктор, с помощью которого можно проводить обучение и закреплять полученный материал.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Сценарий: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Пользователь/роль: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Учитель информатики/технологии в школе или преподаватель колледжа.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Ситуация: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Нужно провести урок по теме «Логические элементы и схемы» в 8–10 классе или на 1–2 курсе колледжа.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Проблема: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В кабинете нет оборудования, на разработку своих уроков нет времени, закупка сложных стендов не вписана в бюджет.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Последствия: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Ученики не понимают тему, теряют интерес к инженерии, урок проходит «по учебнику» без практики, качество образования снижается.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502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DB060-AE99-4BDB-9B7D-13723EE45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4032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Шаг 2. Сегментация рынка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2F736F-D313-47AC-A04A-9C996D80A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459832"/>
            <a:ext cx="9601200" cy="495701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Источник финансирования</a:t>
            </a:r>
          </a:p>
          <a:p>
            <a:pPr lvl="1"/>
            <a:r>
              <a:rPr lang="ru-RU" dirty="0"/>
              <a:t>Школы (решение принимает </a:t>
            </a:r>
            <a:r>
              <a:rPr lang="ru-RU" dirty="0" err="1"/>
              <a:t>завуч,пользователь</a:t>
            </a:r>
            <a:r>
              <a:rPr lang="ru-RU" dirty="0"/>
              <a:t> учитель информатики, проблема  прохождение темы логика (7-8 класс), способ решения теория или симуляторы , ограничения тендеры и закупка , где искать</a:t>
            </a:r>
            <a:r>
              <a:rPr lang="en-US" dirty="0"/>
              <a:t> </a:t>
            </a:r>
            <a:r>
              <a:rPr lang="ru-RU" dirty="0"/>
              <a:t>представителей сегмента Районные управления </a:t>
            </a:r>
            <a:r>
              <a:rPr lang="ru-RU" dirty="0" err="1"/>
              <a:t>оброзавания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Колледжи технические специальности  (решение принимает зам. Директор по УПР ,пользователь преподаватель спец дисциплин, проблема тема логических элементов в программе нескольких дисциплин, способ решения стенды или симуляторы, ограничения бюджет вуза, где искать</a:t>
            </a:r>
            <a:r>
              <a:rPr lang="en-US" dirty="0"/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представителей</a:t>
            </a:r>
            <a:r>
              <a:rPr lang="en-US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сегмента</a:t>
            </a:r>
            <a:r>
              <a:rPr lang="ru-RU" dirty="0"/>
              <a:t> профильные департаменты СПО)</a:t>
            </a:r>
          </a:p>
          <a:p>
            <a:pPr lvl="1"/>
            <a:endParaRPr lang="ru-RU" dirty="0"/>
          </a:p>
          <a:p>
            <a:pPr lvl="1"/>
            <a:r>
              <a:rPr lang="ru-RU" dirty="0"/>
              <a:t>Частные кружки робототехники (решение принимает </a:t>
            </a:r>
            <a:r>
              <a:rPr lang="ru-RU" dirty="0" err="1"/>
              <a:t>реководитель</a:t>
            </a:r>
            <a:r>
              <a:rPr lang="ru-RU" dirty="0"/>
              <a:t> кружка или директор специального учреждения ,пользователь преподаватель, проблема, помощь учителям для удержания внимание учеников, способ решения сами </a:t>
            </a:r>
            <a:r>
              <a:rPr lang="ru-RU" dirty="0" err="1"/>
              <a:t>разробатывают</a:t>
            </a:r>
            <a:r>
              <a:rPr lang="ru-RU" dirty="0"/>
              <a:t> или используют </a:t>
            </a:r>
            <a:r>
              <a:rPr lang="en-US" dirty="0" err="1"/>
              <a:t>arduino</a:t>
            </a:r>
            <a:r>
              <a:rPr lang="ru-RU" dirty="0"/>
              <a:t> , ограничения</a:t>
            </a:r>
            <a:r>
              <a:rPr lang="en-US" dirty="0"/>
              <a:t> </a:t>
            </a:r>
            <a:r>
              <a:rPr lang="ru-RU" dirty="0"/>
              <a:t>бюджет, где искать</a:t>
            </a:r>
            <a:r>
              <a:rPr lang="en-US" dirty="0"/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представителей</a:t>
            </a:r>
            <a:r>
              <a:rPr lang="en-US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сегмента</a:t>
            </a:r>
            <a:r>
              <a:rPr lang="ru-RU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соцсети </a:t>
            </a:r>
            <a:r>
              <a:rPr lang="ru-RU" dirty="0"/>
              <a:t>)</a:t>
            </a:r>
          </a:p>
          <a:p>
            <a:pPr lvl="1"/>
            <a:endParaRPr lang="ru-RU" dirty="0"/>
          </a:p>
          <a:p>
            <a:pPr lvl="1"/>
            <a:r>
              <a:rPr lang="ru-RU" dirty="0" err="1"/>
              <a:t>Репититоры</a:t>
            </a:r>
            <a:r>
              <a:rPr lang="ru-RU" dirty="0"/>
              <a:t>  (решение принимает и пользователь сам </a:t>
            </a:r>
            <a:r>
              <a:rPr lang="ru-RU" dirty="0" err="1"/>
              <a:t>преподователь</a:t>
            </a:r>
            <a:r>
              <a:rPr lang="ru-RU" dirty="0"/>
              <a:t>, проблема нужны наглядные материалы для индивидуальных занятий, способ решение китайские наборы , ограничения бюджет , где искать </a:t>
            </a:r>
            <a:r>
              <a:rPr lang="ru-RU" dirty="0" err="1"/>
              <a:t>Авито</a:t>
            </a:r>
            <a:r>
              <a:rPr lang="ru-RU" dirty="0"/>
              <a:t> ,</a:t>
            </a:r>
            <a:r>
              <a:rPr lang="ru-RU" dirty="0" err="1"/>
              <a:t>профи.ру</a:t>
            </a:r>
            <a:r>
              <a:rPr lang="ru-RU" dirty="0"/>
              <a:t> )</a:t>
            </a:r>
          </a:p>
          <a:p>
            <a:pPr lvl="1"/>
            <a:r>
              <a:rPr lang="ru-RU" dirty="0"/>
              <a:t>Интернет магазины (решение принимает владелец интернет магазина ,менеджер, пользователь </a:t>
            </a:r>
            <a:r>
              <a:rPr lang="ru-RU" dirty="0" err="1"/>
              <a:t>пакупатель</a:t>
            </a:r>
            <a:r>
              <a:rPr lang="ru-RU" dirty="0"/>
              <a:t>  проблема нужны </a:t>
            </a:r>
            <a:r>
              <a:rPr lang="ru-RU" dirty="0" err="1"/>
              <a:t>набоы</a:t>
            </a:r>
            <a:r>
              <a:rPr lang="ru-RU" dirty="0"/>
              <a:t> либо слишком простые либо требуют пайки, способ решение игровые наборы для детей , ограничения бюджет вуза, где искать</a:t>
            </a:r>
            <a:r>
              <a:rPr lang="en-US" dirty="0"/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представителей</a:t>
            </a:r>
            <a:r>
              <a:rPr lang="en-US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сегмента</a:t>
            </a:r>
            <a:r>
              <a:rPr lang="ru-RU" dirty="0"/>
              <a:t> профильные департаменты СПО)</a:t>
            </a:r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5768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51DBBB-A7D0-40EA-A69A-1A1F037F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Шаг 3. Выбор приоритетного сегмента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6EE63AEB-0D01-4E9E-8E9B-208B12425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588019"/>
              </p:ext>
            </p:extLst>
          </p:nvPr>
        </p:nvGraphicFramePr>
        <p:xfrm>
          <a:off x="1093694" y="1645920"/>
          <a:ext cx="10825588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853">
                  <a:extLst>
                    <a:ext uri="{9D8B030D-6E8A-4147-A177-3AD203B41FA5}">
                      <a16:colId xmlns:a16="http://schemas.microsoft.com/office/drawing/2014/main" val="3752511565"/>
                    </a:ext>
                  </a:extLst>
                </a:gridCol>
                <a:gridCol w="1757947">
                  <a:extLst>
                    <a:ext uri="{9D8B030D-6E8A-4147-A177-3AD203B41FA5}">
                      <a16:colId xmlns:a16="http://schemas.microsoft.com/office/drawing/2014/main" val="1910840252"/>
                    </a:ext>
                  </a:extLst>
                </a:gridCol>
                <a:gridCol w="1757947">
                  <a:extLst>
                    <a:ext uri="{9D8B030D-6E8A-4147-A177-3AD203B41FA5}">
                      <a16:colId xmlns:a16="http://schemas.microsoft.com/office/drawing/2014/main" val="472667219"/>
                    </a:ext>
                  </a:extLst>
                </a:gridCol>
                <a:gridCol w="1942747">
                  <a:extLst>
                    <a:ext uri="{9D8B030D-6E8A-4147-A177-3AD203B41FA5}">
                      <a16:colId xmlns:a16="http://schemas.microsoft.com/office/drawing/2014/main" val="1595483256"/>
                    </a:ext>
                  </a:extLst>
                </a:gridCol>
                <a:gridCol w="1582507">
                  <a:extLst>
                    <a:ext uri="{9D8B030D-6E8A-4147-A177-3AD203B41FA5}">
                      <a16:colId xmlns:a16="http://schemas.microsoft.com/office/drawing/2014/main" val="286739580"/>
                    </a:ext>
                  </a:extLst>
                </a:gridCol>
                <a:gridCol w="1748587">
                  <a:extLst>
                    <a:ext uri="{9D8B030D-6E8A-4147-A177-3AD203B41FA5}">
                      <a16:colId xmlns:a16="http://schemas.microsoft.com/office/drawing/2014/main" val="381096696"/>
                    </a:ext>
                  </a:extLst>
                </a:gridCol>
              </a:tblGrid>
              <a:tr h="60954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Критерий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Школы (бюджет)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Колледжи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Частные кружки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Репетиторы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Интернет магазины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435083"/>
                  </a:ext>
                </a:extLst>
              </a:tr>
              <a:tr h="87077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Проблема и её выраженность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Средняя(раз в год)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Средняя(раз в год)</a:t>
                      </a: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 (нужны новые занятия)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Средняя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Высокая. 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79396"/>
                  </a:ext>
                </a:extLst>
              </a:tr>
              <a:tr h="87077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Доступность сегмента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Низкая (бюрократия)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Средняя (через преподавателей)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 (нужны новые занятия)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Средняя. 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360164"/>
                  </a:ext>
                </a:extLst>
              </a:tr>
              <a:tr h="870777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Скорость принятия решения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Низкая(месяцы или годы)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Средняя (недели-месяцы)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 (дни)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Очень высокая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Средняя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810197"/>
                  </a:ext>
                </a:extLst>
              </a:tr>
              <a:tr h="60954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Барьеры внедрения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Высокие (тендеры)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Средние (согласования)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Низкие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Низкие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Средние.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874741"/>
                  </a:ext>
                </a:extLst>
              </a:tr>
              <a:tr h="113201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Вероятность оплаты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Средняя (при попадании в план)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Средняя (при попадании в план)</a:t>
                      </a: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Средняя (цена наборов)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Очень высокая.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893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62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72907-BDA3-4AA6-8252-ABA0CD29D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799"/>
            <a:ext cx="9601200" cy="1600201"/>
          </a:xfrm>
        </p:spPr>
        <p:txBody>
          <a:bodyPr/>
          <a:lstStyle/>
          <a:p>
            <a:r>
              <a:rPr lang="ru-RU" dirty="0"/>
              <a:t>Приоритетный сегмент – интернет магазины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EC0A24-40AE-403A-981C-4311FA34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Масштабирование.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Работа с частными кружками — это "штучный" подход (продажа 1-5 наборов в один кружок). Работа с интернет-магазином — это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опт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 Один успешный контракт с магазином может обеспечить продажу 30-50-100 наборов единовременно, что сразу выводит проект на самоокупаемость.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Канал соответствует продукту.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Анализ поисковой выдачи показал, что магазины активно продают: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Простые конструкторы "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Эврики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" за 800-1000 руб. (слишком базовые) 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Наборы вроде "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Logiblocs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" за 1500-2000 руб. (интересные, но закрытые "коробки", которые не учат пайке и реальной схемотехнике) 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Очень сложные и дорогие стенды для школ за 50 000+ руб. 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Наш продукт за 4500-6000 руб. идеально попадает в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пустующую нишу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между дешевыми игрушками и профессиональным оборудованием. Он предлагает "взрослую" пайку и настоящие логические элементы, но в доступном и методически проработанном формате.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Скорость выхода на </a:t>
            </a:r>
            <a:r>
              <a:rPr lang="ru-RU" b="1" i="0" dirty="0">
                <a:solidFill>
                  <a:srgbClr val="FF0000"/>
                </a:solidFill>
                <a:effectLst/>
                <a:latin typeface="quote-cjk-patch"/>
              </a:rPr>
              <a:t>рынок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Вместо того чтобы выстраивать сложные отношения с сотнями кружков, мы выходим на 5-10 ключевых магазинов, которые уже имеют аудиторию нашей целевой аудитории (заинтересованных родителей и педагогов).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605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2E15F-0CF9-4664-A957-0CAEAD212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0"/>
            <a:ext cx="9601200" cy="148590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Шаг 5. Анализ конкурентов и замен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BD010DAC-DC8B-4D3C-8116-9FC26CDB4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624179"/>
              </p:ext>
            </p:extLst>
          </p:nvPr>
        </p:nvGraphicFramePr>
        <p:xfrm>
          <a:off x="914401" y="527771"/>
          <a:ext cx="10780292" cy="6052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095">
                  <a:extLst>
                    <a:ext uri="{9D8B030D-6E8A-4147-A177-3AD203B41FA5}">
                      <a16:colId xmlns:a16="http://schemas.microsoft.com/office/drawing/2014/main" val="643161153"/>
                    </a:ext>
                  </a:extLst>
                </a:gridCol>
                <a:gridCol w="1251284">
                  <a:extLst>
                    <a:ext uri="{9D8B030D-6E8A-4147-A177-3AD203B41FA5}">
                      <a16:colId xmlns:a16="http://schemas.microsoft.com/office/drawing/2014/main" val="1233794033"/>
                    </a:ext>
                  </a:extLst>
                </a:gridCol>
                <a:gridCol w="946484">
                  <a:extLst>
                    <a:ext uri="{9D8B030D-6E8A-4147-A177-3AD203B41FA5}">
                      <a16:colId xmlns:a16="http://schemas.microsoft.com/office/drawing/2014/main" val="3162268837"/>
                    </a:ext>
                  </a:extLst>
                </a:gridCol>
                <a:gridCol w="1193226">
                  <a:extLst>
                    <a:ext uri="{9D8B030D-6E8A-4147-A177-3AD203B41FA5}">
                      <a16:colId xmlns:a16="http://schemas.microsoft.com/office/drawing/2014/main" val="2944677025"/>
                    </a:ext>
                  </a:extLst>
                </a:gridCol>
                <a:gridCol w="1216423">
                  <a:extLst>
                    <a:ext uri="{9D8B030D-6E8A-4147-A177-3AD203B41FA5}">
                      <a16:colId xmlns:a16="http://schemas.microsoft.com/office/drawing/2014/main" val="2615104561"/>
                    </a:ext>
                  </a:extLst>
                </a:gridCol>
                <a:gridCol w="1552750">
                  <a:extLst>
                    <a:ext uri="{9D8B030D-6E8A-4147-A177-3AD203B41FA5}">
                      <a16:colId xmlns:a16="http://schemas.microsoft.com/office/drawing/2014/main" val="4205309615"/>
                    </a:ext>
                  </a:extLst>
                </a:gridCol>
                <a:gridCol w="1102820">
                  <a:extLst>
                    <a:ext uri="{9D8B030D-6E8A-4147-A177-3AD203B41FA5}">
                      <a16:colId xmlns:a16="http://schemas.microsoft.com/office/drawing/2014/main" val="2977791238"/>
                    </a:ext>
                  </a:extLst>
                </a:gridCol>
                <a:gridCol w="1576210">
                  <a:extLst>
                    <a:ext uri="{9D8B030D-6E8A-4147-A177-3AD203B41FA5}">
                      <a16:colId xmlns:a16="http://schemas.microsoft.com/office/drawing/2014/main" val="4211849627"/>
                    </a:ext>
                  </a:extLst>
                </a:gridCol>
              </a:tblGrid>
              <a:tr h="64733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Тип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Для кого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Заявляемая ценность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Сильные стороны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Слабые стороны</a:t>
                      </a:r>
                      <a:r>
                        <a:rPr lang="en-US" sz="1400" dirty="0"/>
                        <a:t>/</a:t>
                      </a:r>
                      <a:r>
                        <a:rPr lang="ru-RU" sz="1400" dirty="0"/>
                        <a:t>ограничение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Монетизация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Каналы продвижения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112299"/>
                  </a:ext>
                </a:extLst>
              </a:tr>
              <a:tr h="841538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Промышленные стенды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Прямой конкурент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Школы, колледжи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Профессиональное оборудование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Надёжность, соответствие ГОСТ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Цена от 50 000 руб., сложность, 1-2 на школу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Продажа оборудования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Тендеры, каталоги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4511"/>
                  </a:ext>
                </a:extLst>
              </a:tr>
              <a:tr h="122994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Наборы 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Arduino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Косвенный конкурент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Кружки, школы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Обучение программированию и электронике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Популярность, много материалов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Сложно для начинающих, нужно программирование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Продажа наборов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Интернет-магазины, соцсети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472211"/>
                  </a:ext>
                </a:extLst>
              </a:tr>
              <a:tr h="84153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Logisim / </a:t>
                      </a:r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Tinkercad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Школы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Бесплатные симуляторы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Бесплатно, не нужны материалы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Нет "живого" опыта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Бесплатно / 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Freemium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Сайты, рекомендации учителей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205125"/>
                  </a:ext>
                </a:extLst>
              </a:tr>
              <a:tr h="841538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Китайские наборы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Кружки, репетиторы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Дешево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Цена 300-500 руб.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Нет методики, качество, нет поддержки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Продажа на маркетплейсах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Aliexpress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Ozon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175999"/>
                  </a:ext>
                </a:extLst>
              </a:tr>
              <a:tr h="453136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Самодельные решения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Замена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Энтузиасты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Своими руками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Адаптировано под себя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Требуют времени и навыков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Бесплатно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Форумы, сообщества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271465"/>
                  </a:ext>
                </a:extLst>
              </a:tr>
              <a:tr h="841538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Цифровые лаборатории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Косвенный конкурент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Школы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Комплексные измерения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Много функций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Дорого, сложно, избыточно и нет физического контакта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Продажа комплектов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Тендеры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62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857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44EA9-8CE5-4F2C-9F73-094DC729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Шаг 6. Драйверы и барьеры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B241CC-7AD6-4D14-8E8E-2DEEBACCB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Драйверы (почему спрос растет):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Рост интереса к инженерному образованию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государственные программы (Точки роста,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Кванториумы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IT-кубы).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Дефицит готовых методических решений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учителя устают разрабатывать сами.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Уход западных вендоров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освободились ниши в образовании.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Рост частного образования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кружки и секции становятся массовым бизнесом.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Барьеры (что мешает входу/масштабированию):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Бюрократия в госучреждениях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долгие циклы закупок.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Низкая маржинальность при ручном производстве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сложно масштабировать без автоматизации.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Конкуренция с бесплатными симуляторами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сложно доказать ценность "железа".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957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A1867-F9A5-43F1-A856-FDE2DB98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Шаг 7. Формирование ценностного предложения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ru-RU" dirty="0"/>
            </a:b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BC6C14-AD23-45F7-89B9-CB37152D7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Для руководителей частных кружков робототехники, которые ищут новые занятия для удержания учеников, мы обеспечиваем готовый 10-часовой модуль по цифровой логике с реальным железом и методикой, улучшая вовлеченность учеников и снижая время подготовки преподавателя с 20+ часов до нуля по сравнению с самостоятельной разработкой.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Основания (почему реалистично):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Готовые уроки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преподаватель открывает коробку и проводит занятие, не тратя время на подготовку.</a:t>
            </a:r>
          </a:p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Наглядность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ученик видит результат сразу (светодиод загорается от его схемы), а не на экране.</a:t>
            </a:r>
          </a:p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Цена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в 5–10 раз дешевле промышленных стендов, доступна для малого бизнеса.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5388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72BD0-7982-4393-8231-06D1AEE36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F1115"/>
                </a:solidFill>
                <a:effectLst/>
                <a:latin typeface="quote-cjk-patch"/>
              </a:rPr>
              <a:t>Шаг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 8. Business Model Canvas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en-US" dirty="0"/>
            </a:b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DABC4EA6-FA99-4802-86B8-20179788CB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0235039"/>
              </p:ext>
            </p:extLst>
          </p:nvPr>
        </p:nvGraphicFramePr>
        <p:xfrm>
          <a:off x="1371600" y="1322471"/>
          <a:ext cx="9601200" cy="482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3205227328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905105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Блок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Пункты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573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Сегменты клиентов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Частные кружки робототехники; Школы (</a:t>
                      </a:r>
                      <a:r>
                        <a:rPr lang="ru-RU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допобразование</a:t>
                      </a: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 Колледжи; Репетиторы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интернет-магазины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18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Ценностное предложение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Готовый курс по логике "под ключ"; Живой опыт сборки схем; Экономия времени преподавателя; Доступная цена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575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Каналы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Прямые продажи через соцсети; Партнёрства с магазинами для кружков; </a:t>
                      </a:r>
                      <a:r>
                        <a:rPr lang="ru-RU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Telegram</a:t>
                      </a: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-каналы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511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Потоки выручки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Продажа наборов (4500–6000 руб.); Подписка на библиотеку заданий; Платные вебинары; Расширенные модули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66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Ключевые ресурсы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Команда разработчиков; Поставщики компонентов; Методисты; Производственная база (пайка, 3D-печать)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841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Ключевые активности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Закупка компонентов; Сборка и пайка; Разработка методичек; Привлечение преподавателей-партнёров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770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Ключевые партнёры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br>
                        <a:rPr lang="ru-RU" sz="1400" b="0" dirty="0">
                          <a:effectLst/>
                          <a:latin typeface="quote-cjk-patch"/>
                        </a:rPr>
                      </a:br>
                      <a:r>
                        <a:rPr lang="ru-RU" sz="1400" b="0" dirty="0">
                          <a:effectLst/>
                          <a:latin typeface="quote-cjk-patch"/>
                        </a:rPr>
                        <a:t>Поставщики электроники (Чип и </a:t>
                      </a:r>
                      <a:r>
                        <a:rPr lang="ru-RU" sz="1400" b="0" dirty="0" err="1">
                          <a:effectLst/>
                          <a:latin typeface="quote-cjk-patch"/>
                        </a:rPr>
                        <a:t>Дип</a:t>
                      </a:r>
                      <a:r>
                        <a:rPr lang="ru-RU" sz="1400" b="0" dirty="0">
                          <a:effectLst/>
                          <a:latin typeface="quote-cjk-patch"/>
                        </a:rPr>
                        <a:t>, магазины)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56616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Структура издержек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Закупка компонентов; Производство; Логистика; Разработка методик; Продвижение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291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276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44C8B-5747-41F0-93E4-29C423240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062789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Шаг 9. Гипотезы бизнес-модели (10+)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EB1035-00CC-41F5-A23E-9FCB30E67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15453"/>
            <a:ext cx="9601200" cy="4551947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Сегмент: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Руководители частных кружков готовы платить до 6000 руб. за набор при маржинальности кружка 30%+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 кружках проблема проявляется минимум раз в квартал (нужны новые темы)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Решение о покупке принимает руководитель, а не преподаватель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Ценность: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4. Преподаватели готовы заменить симуляторы на железо, если разница в понимании темы очевидна за 1 занятие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5. Готовые методички экономят минимум 5 часов подготовки в неделю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Каналы: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6. Основной канал контакта —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Telegram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-каналы для преподавателей робототехники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7. 70% покупок происходит после бесплатного пробного урока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Выручка: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8. При цене 5000 руб. конверсия в покупку после демо составит не менее 20%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9. 30% покупателей готовы купить расширенный модуль в течение полугода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Барьеры: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10. Главное возражение — "можно скачать симулятор бесплатно", снимается демонстрацией разницы в вовлеченности детей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Ресурсы: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11. Для запуска достаточно 5 пробных наборов и методички по 1 уроку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2452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3DBC8-ECC6-4667-B6EC-1DB8F7436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3445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Шаг 10.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Приоритизация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рисков (ТОП-3)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F0E5679-EB6E-413E-8C79-D9781B57F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665482"/>
              </p:ext>
            </p:extLst>
          </p:nvPr>
        </p:nvGraphicFramePr>
        <p:xfrm>
          <a:off x="1742838" y="1579023"/>
          <a:ext cx="8858723" cy="4589272"/>
        </p:xfrm>
        <a:graphic>
          <a:graphicData uri="http://schemas.openxmlformats.org/drawingml/2006/table">
            <a:tbl>
              <a:tblPr/>
              <a:tblGrid>
                <a:gridCol w="1893194">
                  <a:extLst>
                    <a:ext uri="{9D8B030D-6E8A-4147-A177-3AD203B41FA5}">
                      <a16:colId xmlns:a16="http://schemas.microsoft.com/office/drawing/2014/main" val="1733748654"/>
                    </a:ext>
                  </a:extLst>
                </a:gridCol>
                <a:gridCol w="2321843">
                  <a:extLst>
                    <a:ext uri="{9D8B030D-6E8A-4147-A177-3AD203B41FA5}">
                      <a16:colId xmlns:a16="http://schemas.microsoft.com/office/drawing/2014/main" val="1474049519"/>
                    </a:ext>
                  </a:extLst>
                </a:gridCol>
                <a:gridCol w="2321843">
                  <a:extLst>
                    <a:ext uri="{9D8B030D-6E8A-4147-A177-3AD203B41FA5}">
                      <a16:colId xmlns:a16="http://schemas.microsoft.com/office/drawing/2014/main" val="1621521474"/>
                    </a:ext>
                  </a:extLst>
                </a:gridCol>
                <a:gridCol w="2321843">
                  <a:extLst>
                    <a:ext uri="{9D8B030D-6E8A-4147-A177-3AD203B41FA5}">
                      <a16:colId xmlns:a16="http://schemas.microsoft.com/office/drawing/2014/main" val="1180507654"/>
                    </a:ext>
                  </a:extLst>
                </a:gridCol>
              </a:tblGrid>
              <a:tr h="495060">
                <a:tc>
                  <a:txBody>
                    <a:bodyPr/>
                    <a:lstStyle/>
                    <a:p>
                      <a:pPr algn="l"/>
                      <a:r>
                        <a:rPr lang="ru-RU" sz="1700" b="0" dirty="0">
                          <a:effectLst/>
                          <a:latin typeface="+mn-lt"/>
                        </a:rPr>
                        <a:t>Риск</a:t>
                      </a:r>
                    </a:p>
                  </a:txBody>
                  <a:tcPr marL="84369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b="0">
                          <a:effectLst/>
                          <a:latin typeface="+mn-lt"/>
                        </a:rPr>
                        <a:t>Метод проверки</a:t>
                      </a:r>
                    </a:p>
                  </a:txBody>
                  <a:tcPr marL="140615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b="0">
                          <a:effectLst/>
                          <a:latin typeface="+mn-lt"/>
                        </a:rPr>
                        <a:t>Нужные данные</a:t>
                      </a:r>
                    </a:p>
                  </a:txBody>
                  <a:tcPr marL="140615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700" b="0">
                          <a:effectLst/>
                          <a:latin typeface="+mn-lt"/>
                        </a:rPr>
                        <a:t>Критерий подтверждения</a:t>
                      </a:r>
                    </a:p>
                  </a:txBody>
                  <a:tcPr marL="140615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367745"/>
                  </a:ext>
                </a:extLst>
              </a:tr>
              <a:tr h="864723">
                <a:tc>
                  <a:txBody>
                    <a:bodyPr/>
                    <a:lstStyle/>
                    <a:p>
                      <a:r>
                        <a:rPr lang="ru-RU" sz="1700" b="1" dirty="0">
                          <a:effectLst/>
                          <a:latin typeface="+mn-lt"/>
                        </a:rPr>
                        <a:t>R1: Руководители кружков не готовы платить 5000+ руб.</a:t>
                      </a:r>
                      <a:endParaRPr lang="ru-RU" sz="1700" b="0" dirty="0">
                        <a:effectLst/>
                        <a:latin typeface="+mn-lt"/>
                      </a:endParaRPr>
                    </a:p>
                  </a:txBody>
                  <a:tcPr marL="84369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 dirty="0">
                          <a:effectLst/>
                          <a:latin typeface="+mn-lt"/>
                        </a:rPr>
                        <a:t>Продажи с пробными наборами</a:t>
                      </a:r>
                    </a:p>
                  </a:txBody>
                  <a:tcPr marL="140615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  <a:latin typeface="+mn-lt"/>
                        </a:rPr>
                        <a:t>Количество покупок после демо</a:t>
                      </a:r>
                    </a:p>
                  </a:txBody>
                  <a:tcPr marL="140615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  <a:latin typeface="+mn-lt"/>
                        </a:rPr>
                        <a:t>Конверсия &gt;20% при цене 5000 руб.</a:t>
                      </a:r>
                    </a:p>
                  </a:txBody>
                  <a:tcPr marL="140615" marR="84369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125202"/>
                  </a:ext>
                </a:extLst>
              </a:tr>
              <a:tr h="1049555">
                <a:tc>
                  <a:txBody>
                    <a:bodyPr/>
                    <a:lstStyle/>
                    <a:p>
                      <a:r>
                        <a:rPr lang="ru-RU" sz="1700" b="1">
                          <a:effectLst/>
                          <a:latin typeface="+mn-lt"/>
                        </a:rPr>
                        <a:t>R2: Преподаватели предпочтут бесплатные симуляторы</a:t>
                      </a:r>
                      <a:endParaRPr lang="ru-RU" sz="1700" b="0">
                        <a:effectLst/>
                        <a:latin typeface="+mn-lt"/>
                      </a:endParaRPr>
                    </a:p>
                  </a:txBody>
                  <a:tcPr marL="84369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 dirty="0">
                          <a:effectLst/>
                          <a:latin typeface="+mn-lt"/>
                        </a:rPr>
                        <a:t>A/B тест: урок с набором </a:t>
                      </a:r>
                      <a:r>
                        <a:rPr lang="ru-RU" sz="1700" b="0" dirty="0" err="1">
                          <a:effectLst/>
                          <a:latin typeface="+mn-lt"/>
                        </a:rPr>
                        <a:t>vs</a:t>
                      </a:r>
                      <a:r>
                        <a:rPr lang="ru-RU" sz="1700" b="0" dirty="0">
                          <a:effectLst/>
                          <a:latin typeface="+mn-lt"/>
                        </a:rPr>
                        <a:t> симулятор</a:t>
                      </a:r>
                    </a:p>
                  </a:txBody>
                  <a:tcPr marL="140615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  <a:latin typeface="+mn-lt"/>
                        </a:rPr>
                        <a:t>Оценка вовлеченности учеников (опрос)</a:t>
                      </a:r>
                    </a:p>
                  </a:txBody>
                  <a:tcPr marL="140615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  <a:latin typeface="+mn-lt"/>
                        </a:rPr>
                        <a:t>Ученики в группе с набором ставят оценку "понятно" на 30% выше</a:t>
                      </a:r>
                    </a:p>
                  </a:txBody>
                  <a:tcPr marL="140615" marR="84369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668493"/>
                  </a:ext>
                </a:extLst>
              </a:tr>
              <a:tr h="679892">
                <a:tc>
                  <a:txBody>
                    <a:bodyPr/>
                    <a:lstStyle/>
                    <a:p>
                      <a:r>
                        <a:rPr lang="en-US" sz="1700" b="1">
                          <a:effectLst/>
                          <a:latin typeface="+mn-lt"/>
                        </a:rPr>
                        <a:t>R3: </a:t>
                      </a:r>
                      <a:r>
                        <a:rPr lang="ru-RU" sz="1700" b="1">
                          <a:effectLst/>
                          <a:latin typeface="+mn-lt"/>
                        </a:rPr>
                        <a:t>Производство не масштабируется</a:t>
                      </a:r>
                      <a:endParaRPr lang="ru-RU" sz="1700" b="0">
                        <a:effectLst/>
                        <a:latin typeface="+mn-lt"/>
                      </a:endParaRPr>
                    </a:p>
                  </a:txBody>
                  <a:tcPr marL="84369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  <a:latin typeface="+mn-lt"/>
                        </a:rPr>
                        <a:t>Пилотная партия 30 шт.</a:t>
                      </a:r>
                    </a:p>
                  </a:txBody>
                  <a:tcPr marL="140615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>
                          <a:effectLst/>
                          <a:latin typeface="+mn-lt"/>
                        </a:rPr>
                        <a:t>Время и себестоимость сборки</a:t>
                      </a:r>
                    </a:p>
                  </a:txBody>
                  <a:tcPr marL="140615" marR="140615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 dirty="0">
                          <a:effectLst/>
                          <a:latin typeface="+mn-lt"/>
                        </a:rPr>
                        <a:t>Себестоимость &lt; 1200 руб., время сборки &lt;  часа на набор</a:t>
                      </a:r>
                    </a:p>
                  </a:txBody>
                  <a:tcPr marL="140615" marR="84369" marT="87884" marB="87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542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537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D3B607-D3D5-4C09-A416-25813B089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Шаг 11. План первичной валидации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91645A6-C28D-4C42-BCA6-9774F3E04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</a:rPr>
              <a:t>Респонденты:</a:t>
            </a:r>
            <a:r>
              <a:rPr lang="ru-RU" b="0" i="0" dirty="0">
                <a:solidFill>
                  <a:srgbClr val="0F1115"/>
                </a:solidFill>
                <a:effectLst/>
              </a:rPr>
              <a:t> 5–7 руководителей частных кружков робототехники в своём городе.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</a:rPr>
              <a:t>Где искать:</a:t>
            </a:r>
            <a:r>
              <a:rPr lang="ru-RU" b="0" i="0" dirty="0">
                <a:solidFill>
                  <a:srgbClr val="0F1115"/>
                </a:solidFill>
                <a:effectLst/>
              </a:rPr>
              <a:t> </a:t>
            </a:r>
            <a:r>
              <a:rPr lang="ru-RU" b="0" i="0" dirty="0" err="1">
                <a:solidFill>
                  <a:srgbClr val="0F1115"/>
                </a:solidFill>
                <a:effectLst/>
              </a:rPr>
              <a:t>Telegram</a:t>
            </a:r>
            <a:r>
              <a:rPr lang="ru-RU" b="0" i="0" dirty="0">
                <a:solidFill>
                  <a:srgbClr val="0F1115"/>
                </a:solidFill>
                <a:effectLst/>
              </a:rPr>
              <a:t>-каналы ("Робототехника для детей", "Кружки робототехники"), группа "ВКонтакте" своего города, через знакомых преподавателей.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</a:rPr>
              <a:t>Что нужно узнать:</a:t>
            </a:r>
            <a:endParaRPr lang="ru-RU" b="0" i="0" dirty="0">
              <a:solidFill>
                <a:srgbClr val="0F1115"/>
              </a:solidFill>
              <a:effectLst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0F1115"/>
                </a:solidFill>
                <a:effectLst/>
              </a:rPr>
              <a:t>Какие темы сейчас сложнее всего давать ученикам?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F1115"/>
                </a:solidFill>
                <a:effectLst/>
              </a:rPr>
              <a:t>Сколько вы готовы платить за готовый модуль на 10 занятий?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F1115"/>
                </a:solidFill>
                <a:effectLst/>
              </a:rPr>
              <a:t>Что важнее — цена, методика или "живое" железо?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F1115"/>
                </a:solidFill>
                <a:effectLst/>
              </a:rPr>
              <a:t>Как вы обычно ищете новые материалы для занятий?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F1115"/>
                </a:solidFill>
                <a:effectLst/>
              </a:rPr>
              <a:t>Сколько времени тратите на подготовку к новому уроку?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</a:rPr>
              <a:t>Артефакт:</a:t>
            </a:r>
            <a:r>
              <a:rPr lang="ru-RU" b="0" i="0" dirty="0">
                <a:solidFill>
                  <a:srgbClr val="0F1115"/>
                </a:solidFill>
                <a:effectLst/>
              </a:rPr>
              <a:t> 3 собранных пробных набора + методичка одного урока (распечатанная).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3291155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112</TotalTime>
  <Words>1637</Words>
  <Application>Microsoft Office PowerPoint</Application>
  <PresentationFormat>Широкоэкранный</PresentationFormat>
  <Paragraphs>194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Franklin Gothic Book</vt:lpstr>
      <vt:lpstr>quote-cjk-patch</vt:lpstr>
      <vt:lpstr>Segoe UI</vt:lpstr>
      <vt:lpstr>Times New Roman</vt:lpstr>
      <vt:lpstr>Уголки</vt:lpstr>
      <vt:lpstr>Готовый учебно-методический набор для изучения логических элементов и цифровых схем. </vt:lpstr>
      <vt:lpstr>Шаг 1. Фиксация идеи и проблемного контекста </vt:lpstr>
      <vt:lpstr>Шаг 2. Сегментация рынка</vt:lpstr>
      <vt:lpstr>Шаг 3. Выбор приоритетного сегмента </vt:lpstr>
      <vt:lpstr>Приоритетный сегмент – интернет магазины</vt:lpstr>
      <vt:lpstr>Шаг 5. Анализ конкурентов и замен </vt:lpstr>
      <vt:lpstr>Шаг 6. Драйверы и барьеры </vt:lpstr>
      <vt:lpstr>Шаг 7. Формирование ценностного предложения    </vt:lpstr>
      <vt:lpstr>Шаг 8. Business Model Canvas  </vt:lpstr>
      <vt:lpstr>Шаг 9. Гипотезы бизнес-модели (10+) </vt:lpstr>
      <vt:lpstr>Шаг 10. Приоритизация рисков (ТОП-3) </vt:lpstr>
      <vt:lpstr>Шаг 11. План первичной валидации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Готовый учебно-методический набор для изучения логических элементов и цифровых схем. </dc:title>
  <dc:creator>user</dc:creator>
  <cp:lastModifiedBy>user</cp:lastModifiedBy>
  <cp:revision>15</cp:revision>
  <dcterms:created xsi:type="dcterms:W3CDTF">2026-02-19T11:53:24Z</dcterms:created>
  <dcterms:modified xsi:type="dcterms:W3CDTF">2026-02-26T12:22:58Z</dcterms:modified>
</cp:coreProperties>
</file>